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 bwMode="auto">
          <a:xfrm>
            <a:off x="1274365" y="1522730"/>
            <a:ext cx="9799200" cy="2570400"/>
          </a:xfrm>
        </p:spPr>
        <p:txBody>
          <a:bodyPr/>
          <a:p>
            <a:pPr>
              <a:defRPr/>
            </a:pPr>
            <a:r>
              <a:rPr lang="en-US"/>
              <a:t>Клиентский JavaScript: основы для AJAX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Зачем JavaScript в ASP.NET Core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p>
            <a:pPr>
              <a:defRPr/>
            </a:pPr>
            <a:r>
              <a:rPr lang="en-US"/>
              <a:t>Серверный рендеринг (Razor) отдаёт готовый HTML, но без перезагрузки страницы не обновить данные</a:t>
            </a:r>
            <a:endParaRPr lang="en-US"/>
          </a:p>
          <a:p>
            <a:pPr>
              <a:defRPr/>
            </a:pPr>
            <a:r>
              <a:rPr lang="en-US"/>
              <a:t>JavaScript работает в браузере — может общаться с сервером без перезагрузки (AJAX)</a:t>
            </a:r>
            <a:endParaRPr lang="en-US"/>
          </a:p>
          <a:p>
            <a:pPr>
              <a:defRPr/>
            </a:pPr>
            <a:r>
              <a:rPr lang="en-US"/>
              <a:t>Без jQuery — современный стандарт: vanilla JS, Fetch API</a:t>
            </a:r>
            <a:r>
              <a:rPr lang="ru-RU"/>
              <a:t>. </a:t>
            </a:r>
            <a:r>
              <a:rPr lang="en-US"/>
              <a:t>ASP.NET Core не навязывает библиотеки — чистый JavaScript</a:t>
            </a:r>
            <a:endParaRPr lang="en-US"/>
          </a:p>
          <a:p>
            <a:pPr>
              <a:defRPr/>
            </a:pPr>
            <a:r>
              <a:rPr lang="en-US"/>
              <a:t>Сценарии:</a:t>
            </a:r>
            <a:endParaRPr lang="en-US"/>
          </a:p>
          <a:p>
            <a:pPr lvl="1">
              <a:defRPr/>
            </a:pPr>
            <a:r>
              <a:rPr lang="en-US"/>
              <a:t>Отправка формы без перезагрузки</a:t>
            </a:r>
            <a:endParaRPr lang="en-US"/>
          </a:p>
          <a:p>
            <a:pPr lvl="1">
              <a:defRPr/>
            </a:pPr>
            <a:r>
              <a:rPr lang="en-US"/>
              <a:t>Подгрузка данных при скролле</a:t>
            </a:r>
            <a:endParaRPr lang="en-US"/>
          </a:p>
          <a:p>
            <a:pPr lvl="1">
              <a:defRPr/>
            </a:pPr>
            <a:r>
              <a:rPr lang="en-US"/>
              <a:t>Динамическое обновление корзины</a:t>
            </a:r>
            <a:endParaRPr lang="en-US"/>
          </a:p>
          <a:p>
            <a:pPr lvl="1">
              <a:defRPr/>
            </a:pPr>
            <a:r>
              <a:rPr lang="en-US"/>
              <a:t>Live-поиск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AJAX </a:t>
            </a:r>
            <a:r>
              <a:rPr lang="en-US" altLang="en-US"/>
              <a:t>(Asynchronous JavaScript and XML) — это подход в веб-разработке, который позволяет обновлять данные на странице без её полной перезагрузки. Вместо того чтобы перезагружать весь интерфейс при каждом действии (нажатии кнопки, отправке формы), AJAX обменивается с сервером небольшими порциями информации в фоновом режиме, а затем динамически обновляет только нужные части страницы.</a:t>
            </a:r>
            <a:endParaRPr lang="en-US" altLang="en-US"/>
          </a:p>
        </p:txBody>
      </p:sp>
      <p:pic>
        <p:nvPicPr>
          <p:cNvPr id="5" name="Picture 4" descr="Снимок экрана — 2026-09-18 в 08.16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915" y="2794635"/>
            <a:ext cx="63373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DOM — Document Object Model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DOM — древовидное представление HTML-страницы в памяти браузера</a:t>
            </a:r>
            <a:endParaRPr lang="en-US"/>
          </a:p>
          <a:p>
            <a:pPr>
              <a:defRPr/>
            </a:pPr>
            <a:r>
              <a:rPr lang="en-US"/>
              <a:t>Каждый HTML-элемент — узел дерева</a:t>
            </a:r>
            <a:endParaRPr lang="en-US"/>
          </a:p>
          <a:p>
            <a:pPr>
              <a:defRPr/>
            </a:pPr>
            <a:r>
              <a:rPr lang="en-US"/>
              <a:t>JavaScript может: искать элементы, изменять содержимое, добавлять/удалять узлы</a:t>
            </a:r>
            <a:endParaRPr lang="en-US"/>
          </a:p>
          <a:p>
            <a:pPr>
              <a:defRPr/>
            </a:pPr>
            <a:r>
              <a:rPr lang="en-US"/>
              <a:t>document - </a:t>
            </a:r>
            <a:r>
              <a:rPr lang="en-US"/>
              <a:t>корневой объект DOM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Поиск элементов (js):</a:t>
            </a:r>
            <a:endParaRPr lang="en-US"/>
          </a:p>
        </p:txBody>
      </p:sp>
      <p:pic>
        <p:nvPicPr>
          <p:cNvPr id="6" name="Picture 5" descr="Снимок экрана — 2026-09-10 в 20.47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3801745" y="3862070"/>
            <a:ext cx="6146800" cy="238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 marL="0" indent="0">
              <a:buNone/>
              <a:defRPr/>
            </a:pPr>
            <a:r>
              <a:rPr lang="en-US"/>
              <a:t>Изменение содержимого (js):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Создание и вставка элементов:</a:t>
            </a:r>
            <a:endParaRPr lang="en-US"/>
          </a:p>
        </p:txBody>
      </p:sp>
      <p:pic>
        <p:nvPicPr>
          <p:cNvPr id="5" name="Picture 4" descr="Снимок экрана — 2026-09-10 в 20.48.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08330" y="1451610"/>
            <a:ext cx="6934200" cy="1587500"/>
          </a:xfrm>
          <a:prstGeom prst="rect">
            <a:avLst/>
          </a:prstGeom>
        </p:spPr>
      </p:pic>
      <p:pic>
        <p:nvPicPr>
          <p:cNvPr id="6" name="Picture 5" descr="Снимок экрана — 2026-09-10 в 20.48.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8330" y="3999230"/>
            <a:ext cx="6718300" cy="121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 Events — события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Событие — реакция на действие пользователя (клик, ввод, отправка формы)</a:t>
            </a:r>
            <a:endParaRPr lang="en-US"/>
          </a:p>
          <a:p>
            <a:pPr>
              <a:defRPr/>
            </a:pPr>
            <a:r>
              <a:rPr lang="en-US"/>
              <a:t>addEventListener - современный способ подписки на события</a:t>
            </a:r>
            <a:endParaRPr lang="en-US"/>
          </a:p>
          <a:p>
            <a:pPr marL="0" indent="0">
              <a:buNone/>
              <a:defRPr/>
            </a:pPr>
            <a:r>
              <a:rPr lang="en-US">
                <a:sym typeface="+mn-ea"/>
              </a:rPr>
              <a:t>Клик по кнопке: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  <p:pic>
        <p:nvPicPr>
          <p:cNvPr id="6" name="Picture 5" descr="Снимок экрана — 2026-09-10 в 20.50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721360" y="3253740"/>
            <a:ext cx="5791200" cy="123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>
              <a:defRPr/>
            </a:pPr>
            <a:r>
              <a:rPr lang="en-US">
                <a:sym typeface="+mn-ea"/>
              </a:rPr>
              <a:t>event - объект содержит данные о событии</a:t>
            </a:r>
            <a:endParaRPr lang="en-US"/>
          </a:p>
          <a:p>
            <a:pPr>
              <a:defRPr/>
            </a:pPr>
            <a:r>
              <a:rPr lang="en-US">
                <a:sym typeface="+mn-ea"/>
              </a:rPr>
              <a:t>event.preventDefault() - отмена действия по умолчанию (важно для форм!)</a:t>
            </a:r>
            <a:endParaRPr lang="en-US"/>
          </a:p>
          <a:p>
            <a:pPr>
              <a:defRPr/>
            </a:pPr>
            <a:r>
              <a:rPr lang="en-US"/>
              <a:t>Отправка формы без перезагрузки:</a:t>
            </a: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Ввод текста (input event):</a:t>
            </a:r>
            <a:endParaRPr lang="en-US"/>
          </a:p>
        </p:txBody>
      </p:sp>
      <p:pic>
        <p:nvPicPr>
          <p:cNvPr id="5" name="Picture 4" descr="Снимок экрана — 2026-09-10 в 20.50.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760095" y="2247900"/>
            <a:ext cx="6794500" cy="2362199"/>
          </a:xfrm>
          <a:prstGeom prst="rect">
            <a:avLst/>
          </a:prstGeom>
        </p:spPr>
      </p:pic>
      <p:pic>
        <p:nvPicPr>
          <p:cNvPr id="6" name="Picture 5" descr="Снимок экрана — 2026-09-10 в 20.51.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0095" y="5241290"/>
            <a:ext cx="6388100" cy="1193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Fetch API — современный HTTP-запрос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fetch() - </a:t>
            </a:r>
            <a:r>
              <a:rPr lang="en-US"/>
              <a:t>встроенная функция браузера для HTTP-запросов</a:t>
            </a:r>
            <a:endParaRPr lang="en-US"/>
          </a:p>
          <a:p>
            <a:pPr>
              <a:defRPr/>
            </a:pPr>
            <a:r>
              <a:rPr lang="en-US"/>
              <a:t>Заменяет устаревший XMLHttpRequest</a:t>
            </a:r>
            <a:endParaRPr lang="en-US"/>
          </a:p>
          <a:p>
            <a:pPr>
              <a:defRPr/>
            </a:pPr>
            <a:r>
              <a:rPr lang="en-US"/>
              <a:t>Возвращает Promise — не готовый ответ, а обещание</a:t>
            </a:r>
            <a:endParaRPr lang="en-US"/>
          </a:p>
          <a:p>
            <a:pPr>
              <a:defRPr/>
            </a:pPr>
            <a:r>
              <a:rPr lang="en-US"/>
              <a:t>Два параметра: URL и объект настроек (method, headers, body)</a:t>
            </a: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 marL="0" indent="0">
              <a:buNone/>
              <a:defRPr/>
            </a:pPr>
            <a:r>
              <a:rPr lang="en-US"/>
              <a:t>Базовый GET-запрос (js):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Структура вызова (js):</a:t>
            </a:r>
            <a:endParaRPr lang="en-US"/>
          </a:p>
        </p:txBody>
      </p:sp>
      <p:pic>
        <p:nvPicPr>
          <p:cNvPr id="5" name="Picture 4" descr="Снимок экрана — 2026-09-10 в 20.52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83895" y="1350010"/>
            <a:ext cx="5918200" cy="1244600"/>
          </a:xfrm>
          <a:prstGeom prst="rect">
            <a:avLst/>
          </a:prstGeom>
        </p:spPr>
      </p:pic>
      <p:pic>
        <p:nvPicPr>
          <p:cNvPr id="6" name="Picture 5" descr="Снимок экрана — 2026-09-10 в 20.53.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6595" y="3429000"/>
            <a:ext cx="8001000" cy="208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Promise — основы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Promise — объект, представляющий результат асинхронной операции </a:t>
            </a:r>
            <a:endParaRPr lang="en-US"/>
          </a:p>
          <a:p>
            <a:pPr>
              <a:defRPr/>
            </a:pPr>
            <a:r>
              <a:rPr lang="en-US"/>
              <a:t>Три состояния:  pending (</a:t>
            </a:r>
            <a:r>
              <a:rPr lang="ru-RU"/>
              <a:t>ожидание) -</a:t>
            </a:r>
            <a:r>
              <a:rPr lang="en-US"/>
              <a:t>&gt; fulfilled (</a:t>
            </a:r>
            <a:r>
              <a:rPr lang="ru-RU"/>
              <a:t>успех) или </a:t>
            </a:r>
            <a:r>
              <a:rPr lang="en-US"/>
              <a:t>rejected (</a:t>
            </a:r>
            <a:r>
              <a:rPr lang="ru-RU"/>
              <a:t>ошибка)</a:t>
            </a:r>
            <a:endParaRPr lang="ru-RU"/>
          </a:p>
          <a:p>
            <a:pPr>
              <a:defRPr/>
            </a:pPr>
            <a:r>
              <a:rPr lang="en-US"/>
              <a:t>.then() - </a:t>
            </a:r>
            <a:r>
              <a:rPr lang="en-US"/>
              <a:t>обработка успешного результата</a:t>
            </a:r>
            <a:endParaRPr lang="en-US"/>
          </a:p>
          <a:p>
            <a:pPr>
              <a:defRPr/>
            </a:pPr>
            <a:r>
              <a:rPr lang="en-US"/>
              <a:t>.catch() - обработка ошибки</a:t>
            </a:r>
            <a:endParaRPr lang="en-US"/>
          </a:p>
          <a:p>
            <a:pPr>
              <a:defRPr/>
            </a:pPr>
            <a:r>
              <a:rPr lang="en-US"/>
              <a:t>.finally() - выполняется в любом случае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>
          <a:xfrm>
            <a:off x="608330" y="342900"/>
            <a:ext cx="10972800" cy="5913755"/>
          </a:xfrm>
        </p:spPr>
        <p:txBody>
          <a:bodyPr/>
          <a:p>
            <a:pPr marL="0" indent="0">
              <a:buNone/>
              <a:defRPr/>
            </a:pPr>
            <a:r>
              <a:rPr lang="en-US"/>
              <a:t>Пример: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Цепочка промисов:</a:t>
            </a:r>
            <a:endParaRPr lang="en-US"/>
          </a:p>
        </p:txBody>
      </p:sp>
      <p:pic>
        <p:nvPicPr>
          <p:cNvPr id="5" name="Picture 4" descr="Снимок экрана — 2026-09-10 в 20.56.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2227580" y="342900"/>
            <a:ext cx="7216775" cy="3782694"/>
          </a:xfrm>
          <a:prstGeom prst="rect">
            <a:avLst/>
          </a:prstGeom>
        </p:spPr>
      </p:pic>
      <p:pic>
        <p:nvPicPr>
          <p:cNvPr id="6" name="Picture 5" descr="Снимок экрана — 2026-09-10 в 20.56.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33115" y="4427855"/>
            <a:ext cx="8166100" cy="182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async/await — читаемый асинхронный код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async/await - </a:t>
            </a:r>
            <a:r>
              <a:rPr lang="en-US"/>
              <a:t>синтаксический сахар над промисами </a:t>
            </a:r>
            <a:endParaRPr lang="en-US"/>
          </a:p>
          <a:p>
            <a:pPr>
              <a:defRPr/>
            </a:pPr>
            <a:r>
              <a:rPr lang="en-US"/>
              <a:t>async перед функцией → функция возвращает Promise</a:t>
            </a:r>
            <a:endParaRPr lang="en-US"/>
          </a:p>
          <a:p>
            <a:pPr>
              <a:defRPr/>
            </a:pPr>
            <a:r>
              <a:rPr lang="en-US"/>
              <a:t>await приостанавливает выполнение до завершения промиса</a:t>
            </a:r>
            <a:endParaRPr lang="en-US"/>
          </a:p>
          <a:p>
            <a:pPr>
              <a:defRPr/>
            </a:pPr>
            <a:r>
              <a:rPr lang="en-US"/>
              <a:t>Код читается сверху вниз, без цепочек .then()</a:t>
            </a:r>
            <a:endParaRPr lang="en-US"/>
          </a:p>
          <a:p>
            <a:pPr>
              <a:defRPr/>
            </a:pPr>
            <a:r>
              <a:rPr lang="en-US"/>
              <a:t>try/catch для обработки ошибок (вместо .catch() 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>
              <a:defRPr/>
            </a:pPr>
            <a:r>
              <a:rPr lang="en-US"/>
              <a:t>Сравнение: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Через промисы (js):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Через async/await (js):</a:t>
            </a:r>
            <a:endParaRPr lang="en-US"/>
          </a:p>
        </p:txBody>
      </p:sp>
      <p:pic>
        <p:nvPicPr>
          <p:cNvPr id="5" name="Picture 4" descr="Снимок экрана — 2026-09-10 в 20.59.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3840480" y="1274445"/>
            <a:ext cx="5219700" cy="1866900"/>
          </a:xfrm>
          <a:prstGeom prst="rect">
            <a:avLst/>
          </a:prstGeom>
        </p:spPr>
      </p:pic>
      <p:pic>
        <p:nvPicPr>
          <p:cNvPr id="6" name="Picture 5" descr="Снимок экрана — 2026-09-10 в 20.59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40480" y="3627755"/>
            <a:ext cx="6019800" cy="262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Fetch + async/await — GET-запрос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response.ok - </a:t>
            </a:r>
            <a:r>
              <a:rPr lang="en-US"/>
              <a:t>true, если статус 200–299</a:t>
            </a:r>
            <a:endParaRPr lang="en-US"/>
          </a:p>
          <a:p>
            <a:pPr>
              <a:defRPr/>
            </a:pPr>
            <a:r>
              <a:rPr lang="en-US"/>
              <a:t>response.status - HTTP-код ответа (200, 404, 500...)</a:t>
            </a:r>
            <a:endParaRPr lang="en-US"/>
          </a:p>
          <a:p>
            <a:pPr>
              <a:defRPr/>
            </a:pPr>
            <a:r>
              <a:rPr lang="en-US"/>
              <a:t>response.json() - парсинг JSON из ответа (тоже асинхронный, нужен await)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>
          <a:xfrm>
            <a:off x="608330" y="305435"/>
            <a:ext cx="10972800" cy="5951220"/>
          </a:xfrm>
        </p:spPr>
        <p:txBody>
          <a:bodyPr/>
          <a:p>
            <a:pPr marL="0" indent="0">
              <a:buNone/>
              <a:defRPr/>
            </a:pPr>
            <a:r>
              <a:rPr lang="en-US"/>
              <a:t>Полный пример с проверкой статуса:</a:t>
            </a:r>
            <a:endParaRPr lang="en-US"/>
          </a:p>
        </p:txBody>
      </p:sp>
      <p:pic>
        <p:nvPicPr>
          <p:cNvPr id="5" name="Picture 4" descr="Снимок экрана — 2026-09-10 в 21.01.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772795" y="812165"/>
            <a:ext cx="7611110" cy="5713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Fetch + async/await — POST-запрос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method: "POST"- </a:t>
            </a:r>
            <a:r>
              <a:rPr lang="en-US"/>
              <a:t>метод отправки</a:t>
            </a:r>
            <a:endParaRPr lang="en-US"/>
          </a:p>
          <a:p>
            <a:pPr>
              <a:defRPr/>
            </a:pPr>
            <a:r>
              <a:rPr lang="en-US"/>
              <a:t>headers: { </a:t>
            </a:r>
            <a:r>
              <a:rPr lang="lv-LV"/>
              <a:t>'</a:t>
            </a:r>
            <a:r>
              <a:rPr lang="en-US"/>
              <a:t>Content-Type</a:t>
            </a:r>
            <a:r>
              <a:rPr lang="lv-LV"/>
              <a:t>'</a:t>
            </a:r>
            <a:r>
              <a:rPr lang="en-US"/>
              <a:t>:</a:t>
            </a:r>
            <a:r>
              <a:rPr lang="lv-LV"/>
              <a:t> application/json } - </a:t>
            </a:r>
            <a:r>
              <a:rPr lang="en-US"/>
              <a:t>заголовок типа данных</a:t>
            </a:r>
            <a:endParaRPr lang="en-US"/>
          </a:p>
          <a:p>
            <a:pPr>
              <a:defRPr/>
            </a:pPr>
            <a:r>
              <a:rPr lang="lv-LV"/>
              <a:t>body: JSON.stringify(data) - </a:t>
            </a:r>
            <a:r>
              <a:rPr lang="en-US"/>
              <a:t>сериализация объекта в JSON-строку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>
          <a:xfrm>
            <a:off x="608330" y="267970"/>
            <a:ext cx="10972800" cy="5988685"/>
          </a:xfrm>
        </p:spPr>
        <p:txBody>
          <a:bodyPr/>
          <a:p>
            <a:pPr marL="0" indent="0">
              <a:buNone/>
              <a:defRPr/>
            </a:pPr>
            <a:r>
              <a:rPr lang="en-US"/>
              <a:t>Пример — отправка формы:</a:t>
            </a:r>
            <a:endParaRPr lang="en-US"/>
          </a:p>
        </p:txBody>
      </p:sp>
      <p:pic>
        <p:nvPicPr>
          <p:cNvPr id="5" name="Picture 4" descr="Снимок экрана — 2026-09-10 в 21.04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0" y="843280"/>
            <a:ext cx="5963920" cy="4142105"/>
          </a:xfrm>
          <a:prstGeom prst="rect">
            <a:avLst/>
          </a:prstGeom>
        </p:spPr>
      </p:pic>
      <p:pic>
        <p:nvPicPr>
          <p:cNvPr id="6" name="Picture 5" descr="Снимок экрана — 2026-09-10 в 21.05.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63920" y="2543810"/>
            <a:ext cx="6025515" cy="4052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Параллельные запросы — Promise.all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lv-LV"/>
              <a:t>Promise.all([ ... ]) - </a:t>
            </a:r>
            <a:r>
              <a:rPr lang="en-US"/>
              <a:t>запускает промисы параллельно, ждёт все</a:t>
            </a:r>
            <a:endParaRPr lang="en-US"/>
          </a:p>
          <a:p>
            <a:pPr>
              <a:defRPr/>
            </a:pPr>
            <a:r>
              <a:rPr lang="en-US"/>
              <a:t>Если хотя бы один упал — весь </a:t>
            </a:r>
            <a:r>
              <a:rPr lang="lv-LV"/>
              <a:t>Promise.all </a:t>
            </a:r>
            <a:r>
              <a:rPr lang="en-US"/>
              <a:t>отклоняется</a:t>
            </a:r>
            <a:endParaRPr lang="en-US"/>
          </a:p>
          <a:p>
            <a:pPr>
              <a:defRPr/>
            </a:pPr>
            <a:r>
              <a:rPr lang="en-US"/>
              <a:t>Через async/await результат — массив в порядке аргументов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>
          <a:xfrm>
            <a:off x="608330" y="369570"/>
            <a:ext cx="10972800" cy="5887085"/>
          </a:xfrm>
        </p:spPr>
        <p:txBody>
          <a:bodyPr/>
          <a:p>
            <a:pPr marL="0" indent="0">
              <a:buNone/>
              <a:defRPr/>
            </a:pPr>
            <a:r>
              <a:rPr lang="en-US"/>
              <a:t>Пример — загрузка дашборда:</a:t>
            </a:r>
            <a:endParaRPr lang="en-US"/>
          </a:p>
        </p:txBody>
      </p:sp>
      <p:pic>
        <p:nvPicPr>
          <p:cNvPr id="5" name="Picture 4" descr="Снимок экрана — 2026-09-10 в 21.07.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88265" y="855980"/>
            <a:ext cx="6504940" cy="3036570"/>
          </a:xfrm>
          <a:prstGeom prst="rect">
            <a:avLst/>
          </a:prstGeom>
        </p:spPr>
      </p:pic>
      <p:pic>
        <p:nvPicPr>
          <p:cNvPr id="6" name="Picture 5" descr="Снимок экрана — 2026-09-10 в 21.07.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0" y="3134995"/>
            <a:ext cx="5917565" cy="3570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p>
            <a:pPr>
              <a:defRPr/>
            </a:pPr>
            <a:r>
              <a:rPr lang="ru-RU"/>
              <a:t>Итог: </a:t>
            </a:r>
            <a:r>
              <a:rPr lang="en-US"/>
              <a:t>Razor + JavaScript: разделение ответственности и эффективная связка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20000"/>
          </a:bodyPr>
          <a:p>
            <a:pPr>
              <a:defRPr/>
            </a:pPr>
            <a:r>
              <a:rPr lang="en-US"/>
              <a:t>Razor — серверный рендеринг: быстрая первая отрисовка, SEO‑дружественность, встроенная защита от XSS </a:t>
            </a:r>
            <a:r>
              <a:rPr lang="lv-LV"/>
              <a:t>(</a:t>
            </a:r>
            <a:r>
              <a:rPr lang="en-US"/>
              <a:t>Cross‑Site Scripting, межсайтовый скриптинг</a:t>
            </a:r>
            <a:r>
              <a:rPr lang="lv-LV"/>
              <a:t>) </a:t>
            </a:r>
            <a:r>
              <a:rPr lang="en-US"/>
              <a:t>за счёт HTML‑encoding.</a:t>
            </a:r>
            <a:endParaRPr lang="en-US"/>
          </a:p>
          <a:p>
            <a:pPr>
              <a:defRPr/>
            </a:pPr>
            <a:r>
              <a:rPr lang="en-US"/>
              <a:t>JavaScript — клиентская динамика: интерактивность без перезагрузки (AJAX/Fetch), обработка событий, манипуляции с DOM.</a:t>
            </a:r>
            <a:endParaRPr lang="en-US"/>
          </a:p>
          <a:p>
            <a:pPr>
              <a:defRPr/>
            </a:pPr>
            <a:r>
              <a:rPr lang="en-US"/>
              <a:t>Разделение ролей: Razor отвечает за структуру и начальные данные, JS — за UX и обновления в реальном времени.</a:t>
            </a:r>
            <a:endParaRPr lang="en-US"/>
          </a:p>
          <a:p>
            <a:pPr>
              <a:defRPr/>
            </a:pPr>
            <a:r>
              <a:rPr lang="en-US"/>
              <a:t>Безопасность по умолчанию: </a:t>
            </a:r>
            <a:r>
              <a:rPr lang="lv-LV"/>
              <a:t>@Model.Value</a:t>
            </a:r>
            <a:r>
              <a:rPr lang="en-US"/>
              <a:t>автоматически экранируется; </a:t>
            </a:r>
            <a:r>
              <a:rPr lang="lv-LV"/>
              <a:t>Html.Raw </a:t>
            </a:r>
            <a:r>
              <a:rPr lang="en-US"/>
              <a:t>использовать только для доверенного контента.</a:t>
            </a:r>
            <a:endParaRPr lang="en-US"/>
          </a:p>
          <a:p>
            <a:pPr>
              <a:defRPr/>
            </a:pPr>
            <a:r>
              <a:rPr lang="en-US"/>
              <a:t>Переиспользуемость в Razor: Layout, Partial Views и ViewComponents убирают дублирование разметки и добавляют логику на уровне компонентов.</a:t>
            </a:r>
            <a:endParaRPr lang="en-US"/>
          </a:p>
          <a:p>
            <a:pPr marL="0" indent="0">
              <a:buNone/>
              <a:defRPr/>
            </a:pPr>
            <a:r>
              <a:rPr lang="en-US" b="1">
                <a:latin typeface="Helvetica Neue Bold" panose="02000503000000020004"/>
                <a:cs typeface="Helvetica Neue Bold" panose="02000503000000020004"/>
              </a:rPr>
              <a:t>Сначала рендерим на сервере (Razor), потом добавляем интерактив точечно (JS). Не дублируем логику и не отключаем экранирование без необходимости.</a:t>
            </a:r>
            <a:endParaRPr lang="en-US" b="1">
              <a:latin typeface="Helvetica Neue Bold" panose="02000503000000020004"/>
              <a:cs typeface="Helvetica Neue Bold" panose="020005030000000200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p>
            <a:pPr>
              <a:defRPr/>
            </a:pPr>
            <a:r>
              <a:rPr lang="ru-RU"/>
              <a:t>Практическая работа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3967</Words>
  <Application>WPS Presentation</Application>
  <PresentationFormat>Widescreen</PresentationFormat>
  <Paragraphs>132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Wingdings</vt:lpstr>
      <vt:lpstr>Helvetica Neue</vt:lpstr>
      <vt:lpstr>Microsoft YaHei</vt:lpstr>
      <vt:lpstr>汉仪旗黑</vt:lpstr>
      <vt:lpstr>Arial Unicode MS</vt:lpstr>
      <vt:lpstr>Calibri</vt:lpstr>
      <vt:lpstr>Helvetica Neue Bold</vt:lpstr>
      <vt:lpstr>Helvetica Neue Bold</vt:lpstr>
      <vt:lpstr>宋体-简</vt:lpstr>
      <vt:lpstr>WPS</vt:lpstr>
      <vt:lpstr>Клиентский JavaScript: основы для AJAX</vt:lpstr>
      <vt:lpstr>Зачем JavaScript в ASP.NET Core</vt:lpstr>
      <vt:lpstr>PowerPoint 演示文稿</vt:lpstr>
      <vt:lpstr>DOM — Document Object Model</vt:lpstr>
      <vt:lpstr>PowerPoint 演示文稿</vt:lpstr>
      <vt:lpstr> Events — события</vt:lpstr>
      <vt:lpstr>PowerPoint 演示文稿</vt:lpstr>
      <vt:lpstr>Fetch API — современный HTTP-запрос</vt:lpstr>
      <vt:lpstr>PowerPoint 演示文稿</vt:lpstr>
      <vt:lpstr>Promise — основы</vt:lpstr>
      <vt:lpstr>PowerPoint 演示文稿</vt:lpstr>
      <vt:lpstr>async/await — читаемый асинхронный код</vt:lpstr>
      <vt:lpstr>PowerPoint 演示文稿</vt:lpstr>
      <vt:lpstr>Fetch + async/await — GET-запрос</vt:lpstr>
      <vt:lpstr>PowerPoint 演示文稿</vt:lpstr>
      <vt:lpstr>Fetch + async/await — POST-запрос</vt:lpstr>
      <vt:lpstr>PowerPoint 演示文稿</vt:lpstr>
      <vt:lpstr>Параллельные запросы — Promise.all</vt:lpstr>
      <vt:lpstr>PowerPoint 演示文稿</vt:lpstr>
      <vt:lpstr>Итог: Razor + JavaScript: разделение ответственности и эффективная связка</vt:lpstr>
      <vt:lpstr>Практическая работа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Клиентский JavaScript: основы для AJAX</dc:title>
  <dc:creator>oksanaroslova</dc:creator>
  <cp:lastModifiedBy>Oksana Roslova</cp:lastModifiedBy>
  <cp:revision>1</cp:revision>
  <dcterms:created xsi:type="dcterms:W3CDTF">2026-09-18T05:17:30Z</dcterms:created>
  <dcterms:modified xsi:type="dcterms:W3CDTF">2026-09-18T05:17:30Z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004235FCEE16315A4FC9AC6A1446DA69_41</vt:lpwstr>
  </property>
</Properties>
</file>