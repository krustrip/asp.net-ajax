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63" r:id="rId6"/>
    <p:sldId id="264" r:id="rId7"/>
    <p:sldId id="259" r:id="rId8"/>
    <p:sldId id="265" r:id="rId9"/>
    <p:sldId id="266" r:id="rId10"/>
    <p:sldId id="260" r:id="rId11"/>
    <p:sldId id="261" r:id="rId12"/>
    <p:sldId id="26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hyperlink" Target="https://shop.example.com/products" TargetMode="Externa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9.xml"/><Relationship Id="rId2" Type="http://schemas.openxmlformats.org/officeDocument/2006/relationships/image" Target="../media/image4.png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81.xml"/><Relationship Id="rId2" Type="http://schemas.openxmlformats.org/officeDocument/2006/relationships/image" Target="../media/image5.png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6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7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8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0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117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854835"/>
            <a:ext cx="9799200" cy="2570400"/>
          </a:xfrm>
        </p:spPr>
        <p:txBody>
          <a:bodyPr/>
          <a:p>
            <a:r>
              <a:rPr lang="ru-RU" altLang="en-US"/>
              <a:t>А</a:t>
            </a:r>
            <a:r>
              <a:rPr lang="en-US" altLang="en-US"/>
              <a:t>рхитектура ASP.NET Core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Клиент-серверная архитектура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Браузер ──HTTP-запрос──▶ Сервер (ASP.NET Core)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Браузер ◀──HTTP-ответ◀── Сервер (ASP.NET Core)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Клиент — это не обязательно браузер. Это может быть мобильное приложение, десктоп-программа, другой сервер (API-to-API), IoT-устройство. Любой, кто умеет отправлять HTTP-запросы.</a:t>
            </a:r>
            <a:endParaRPr lang="en-US" altLang="en-US"/>
          </a:p>
          <a:p>
            <a:pPr marL="0" indent="457200">
              <a:buNone/>
            </a:pPr>
            <a:r>
              <a:rPr lang="ru-RU" altLang="en-US"/>
              <a:t>П</a:t>
            </a:r>
            <a:r>
              <a:rPr lang="en-US" altLang="en-US"/>
              <a:t>ример: пользователь открывает </a:t>
            </a:r>
            <a:r>
              <a:rPr lang="en-US" altLang="en-US">
                <a:hlinkClick r:id="rId3" action="ppaction://hlinkfile"/>
              </a:rPr>
              <a:t>https://shop.example.com/products.</a:t>
            </a:r>
            <a:r>
              <a:rPr lang="en-US" altLang="en-US"/>
              <a:t> Браузер формирует GET-запрос, сервер ASP.NET Core получает его, обращается к базе, рендерит HTML и возвращает. Браузер отображает страницу.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Из чего состоит HTTP-запрос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HTTP-запрос — это текст с чёткой структурой: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Три обязательные части: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Стартовая строка — метод, путь, версия протокола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Заголовки — метаданные: тип содержимого, авторизация, куки, кодировка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Тело — данные (не у всех методов: GET и DELETE обычно без тела)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02 в 21.59.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895" y="1490345"/>
            <a:ext cx="3898900" cy="2743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Где реально увидеть эти строки</a:t>
            </a:r>
            <a:r>
              <a:rPr lang="ru-RU" altLang="en-US"/>
              <a:t>:</a:t>
            </a:r>
            <a:endParaRPr lang="ru-RU" altLang="en-US"/>
          </a:p>
          <a:p>
            <a:r>
              <a:rPr lang="en-US" altLang="en-US"/>
              <a:t>В браузере: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Открыть DevTools:</a:t>
            </a:r>
            <a:r>
              <a:rPr lang="ru-RU" altLang="en-US"/>
              <a:t> </a:t>
            </a:r>
            <a:r>
              <a:rPr lang="en-US" altLang="ru-RU"/>
              <a:t>F12 </a:t>
            </a:r>
            <a:r>
              <a:rPr lang="ru-RU" altLang="en-US"/>
              <a:t>или </a:t>
            </a:r>
            <a:r>
              <a:rPr lang="en-US" altLang="ru-RU"/>
              <a:t>Ctrl+Shift+I / Cmd+Option+I</a:t>
            </a:r>
            <a:endParaRPr lang="en-US" altLang="ru-RU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Перейти во вкладку Network («Сеть»).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Обновить страницу или выполнить действие (создать задачу).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Кликнуть на нужный запрос (например, /api/tasks)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В правой панели открыть секцию Headers — там будет стартовая строка, заголовки и (в отдельной секции Payload) тело запроса.</a:t>
            </a:r>
            <a:endParaRPr lang="en-US" altLang="en-US"/>
          </a:p>
          <a:p>
            <a:r>
              <a:rPr lang="en-US" altLang="en-US"/>
              <a:t>В сниффере трафика:</a:t>
            </a:r>
            <a:endParaRPr lang="en-US" altLang="en-US"/>
          </a:p>
          <a:p>
            <a:pPr marL="0" indent="0">
              <a:buFont typeface="+mj-lt"/>
              <a:buNone/>
            </a:pPr>
            <a:r>
              <a:rPr lang="en-US" altLang="en-US"/>
              <a:t>Fiddler, Wireshark, Charles Proxy — показывают сырые HTTP‑строки «как есть», вплоть до каждого байта. Полезно, чтобы увидеть, что браузер реально отправляет.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/>
              <a:t>На стороне сервера (в коде ASP.NET Core):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Через объект HttpContext: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Чаще всего это делают в middleware или в контроллере через привязку модели — тогда ASP.NET сам превращает эти строки в C#‑объект.</a:t>
            </a:r>
            <a:endParaRPr lang="en-US" altLang="en-US"/>
          </a:p>
          <a:p>
            <a:r>
              <a:rPr lang="en-US" altLang="en-US"/>
              <a:t>В логах (если настроено логирование запросов):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Middleware вроде UseDeveloperExceptingPage или кастомные логировщики могут писать в консоль стартовую строку и заголовки. В продакшене — в файлы или в централизованную систему (Serilog, ELK, Application Insights).</a:t>
            </a:r>
            <a:endParaRPr lang="en-US" altLang="en-US"/>
          </a:p>
        </p:txBody>
      </p:sp>
      <p:pic>
        <p:nvPicPr>
          <p:cNvPr id="5" name="Picture 4" descr="Снимок экрана — 2026-09-02 в 22.26.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530" y="1441450"/>
            <a:ext cx="6743700" cy="25711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Из чего состоит HTTP-ответ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endParaRPr lang="en-US" altLang="en-US"/>
          </a:p>
          <a:p>
            <a:r>
              <a:rPr lang="en-US" altLang="en-US"/>
              <a:t>Те же три части: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Статусная строка — версия, код статуса, текстовое описание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Заголовки — тип содержимого, длина, дата, куки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Тело — HTML, JSON, файл, картинка (или пусто)</a:t>
            </a:r>
            <a:endParaRPr lang="en-US" altLang="en-US"/>
          </a:p>
        </p:txBody>
      </p:sp>
      <p:pic>
        <p:nvPicPr>
          <p:cNvPr id="6" name="Picture 5" descr="Снимок экрана — 2026-09-02 в 22.06.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0" y="3950970"/>
            <a:ext cx="4563110" cy="26587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Где увидеть эти строки:</a:t>
            </a:r>
            <a:endParaRPr lang="en-US" altLang="en-US"/>
          </a:p>
          <a:p>
            <a:r>
              <a:rPr lang="en-US" altLang="en-US"/>
              <a:t>В браузере (DevTools):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Вкладка Network, выбрать запрос.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В секции Headers — статусная строка и заголовки ответа.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В секции Response — тело ответа (JSON, HTML и т.д.).</a:t>
            </a:r>
            <a:endParaRPr lang="en-US" altLang="en-US"/>
          </a:p>
          <a:p>
            <a:r>
              <a:rPr lang="en-US" altLang="en-US"/>
              <a:t>На стороне сервера (контроллер/middleware):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Статус и заголовки управляются из C#:</a:t>
            </a:r>
            <a:endParaRPr lang="en-US" altLang="en-US"/>
          </a:p>
        </p:txBody>
      </p:sp>
      <p:pic>
        <p:nvPicPr>
          <p:cNvPr id="5" name="Picture 4" descr="Снимок экрана — 2026-09-02 в 22.41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95" y="4178300"/>
            <a:ext cx="7341235" cy="21964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94030" y="4429125"/>
            <a:ext cx="3530600" cy="19456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t>Тело ответа — это то, что вы возвращаете:</a:t>
            </a:r>
            <a:r>
              <a:rPr lang="en-US"/>
              <a:t> View(), Json(), Content(), </a:t>
            </a:r>
            <a:r>
              <a:rPr lang="en-US" altLang="en-US"/>
              <a:t>либо результат Razor‑шаблона.</a:t>
            </a:r>
            <a:r>
              <a:t> </a:t>
            </a: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 снифферах (Fiddler/Wireshark/Charles):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Там виден сырой ответ: строка статуса, все заголовки подряд и тело. Это полезно, чтобы понять, что клиент реально получает, даже если браузер «красиво» отображает JSON или HTML.</a:t>
            </a:r>
            <a:endParaRPr lang="en-US" altLang="en-US"/>
          </a:p>
          <a:p>
            <a:r>
              <a:rPr lang="en-US" altLang="en-US"/>
              <a:t>В логировании: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Если в middleware логировать ответ (после </a:t>
            </a:r>
            <a:r>
              <a:rPr lang="lv-LV" altLang="en-US"/>
              <a:t>await next(context), </a:t>
            </a:r>
            <a:r>
              <a:rPr lang="en-US" altLang="en-US"/>
              <a:t>можно писать в лог:</a:t>
            </a:r>
            <a:endParaRPr lang="en-US" altLang="en-US"/>
          </a:p>
        </p:txBody>
      </p:sp>
      <p:pic>
        <p:nvPicPr>
          <p:cNvPr id="5" name="Picture 4" descr="Снимок экрана — 2026-09-02 в 22.44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3568700"/>
            <a:ext cx="7254240" cy="1231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HTTP-методы и их семантика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702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565"/>
                <a:gridCol w="2742565"/>
                <a:gridCol w="2742565"/>
                <a:gridCol w="2742565"/>
              </a:tblGrid>
              <a:tr h="381000"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Метод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Назначение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Идемпотентен?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Тело?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GET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Получить ресурс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Нет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POST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Создать ресурс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Нет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PUT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Заменить ресурс целиком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PATCH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Частично обновить ресурс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Нет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DELETE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Удалить ресурс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Нет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698500" y="4841875"/>
            <a:ext cx="1087945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Идемпотентность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 — повторный запрос даёт тот же результат. Если отправить DELETE дважды — второй раз ресурс уже удалён, ответ тот же. POST дважды — создаст две записи.</a:t>
            </a:r>
            <a:endParaRPr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98500" y="5530215"/>
            <a:ext cx="1087818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1600" b="1" i="0">
                <a:solidFill>
                  <a:schemeClr val="tx1"/>
                </a:solidFill>
                <a:latin typeface="-apple-system"/>
                <a:ea typeface="-apple-system"/>
              </a:rPr>
              <a:t>П</a:t>
            </a:r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ример: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 в интернет-магазине </a:t>
            </a:r>
            <a:r>
              <a:rPr 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GET/products/5 </a:t>
            </a:r>
            <a:r>
              <a:rPr lang="en-US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возвращает товар, POST/orders создаёт заказ, DELETE/cart/items/3 удаляет из корзины. Если пользователь случайно кликнет «удалить» дважды — ничего не сломается (идемпотентность DELETE).</a:t>
            </a:r>
            <a:endParaRPr lang="en-US" altLang="en-US"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Коды состояний HTTP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2743200"/>
                <a:gridCol w="6911340"/>
              </a:tblGrid>
              <a:tr h="381000"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-apple-system"/>
                          <a:ea typeface="-apple-system"/>
                        </a:rPr>
                        <a:t>Диапазон</a:t>
                      </a:r>
                      <a:endParaRPr sz="1600" b="0">
                        <a:solidFill>
                          <a:schemeClr val="bg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-apple-system"/>
                          <a:ea typeface="-apple-system"/>
                        </a:rPr>
                        <a:t>Значение</a:t>
                      </a:r>
                      <a:endParaRPr sz="1600" b="0">
                        <a:solidFill>
                          <a:schemeClr val="bg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chemeClr val="bg1"/>
                          </a:solidFill>
                          <a:latin typeface="-apple-system"/>
                          <a:ea typeface="-apple-system"/>
                        </a:rPr>
                        <a:t>Примеры</a:t>
                      </a:r>
                      <a:endParaRPr sz="1600" b="0">
                        <a:solidFill>
                          <a:schemeClr val="bg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1xx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Информация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101 Switching Protocols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2xx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Успех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200 OK, 201 Created, 204 No Content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3xx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Перенаправление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301 Moved Permanently, 304 Not Modified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4xx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Ошибка клиента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400 Bad Request, 401 Unauthorized, 403 Forbidden, 404 Not Found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5xx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Ошибка сервера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>
                        <a:lnSpc>
                          <a:spcPts val="28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500 Internal Server Error, 502 Bad Gateway, 503 Service Unavailable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63500" y="63500"/>
            <a:ext cx="5080000" cy="635000"/>
          </a:xfrm>
          <a:prstGeom prst="rect">
            <a:avLst/>
          </a:prstGeom>
        </p:spPr>
        <p:txBody>
          <a:bodyPr/>
          <a:p>
            <a:pPr marL="0" indent="0"/>
            <a:r>
              <a:rPr sz="1600" b="1" i="0">
                <a:solidFill>
                  <a:srgbClr val="FFFFFF"/>
                </a:solidFill>
                <a:latin typeface="-apple-system"/>
                <a:ea typeface="-apple-system"/>
              </a:rPr>
              <a:t>Реальный пример:</a:t>
            </a:r>
            <a:endParaRPr sz="1600" b="1" i="0">
              <a:solidFill>
                <a:srgbClr val="FFFFFF"/>
              </a:solidFill>
              <a:latin typeface="-apple-system"/>
              <a:ea typeface="-apple-system"/>
            </a:endParaRPr>
          </a:p>
          <a:p>
            <a:pPr marL="0" indent="0"/>
            <a:r>
              <a:rPr sz="1600" b="0" i="0">
                <a:solidFill>
                  <a:srgbClr val="FFFFFF"/>
                </a:solidFill>
                <a:latin typeface="-apple-system"/>
                <a:ea typeface="-apple-system"/>
              </a:rPr>
              <a:t> </a:t>
            </a:r>
            <a:r>
              <a:rPr sz="1600" b="0" i="0">
                <a:solidFill>
                  <a:srgbClr val="FFFFFF"/>
                </a:solidFill>
                <a:latin typeface="-apple-system"/>
                <a:ea typeface="-apple-system"/>
              </a:rPr>
              <a:t>API возвращает</a:t>
            </a:r>
            <a:r>
              <a:rPr sz="1600" b="0" i="0">
                <a:solidFill>
                  <a:srgbClr val="FFFFFF"/>
                </a:solidFill>
                <a:latin typeface="-apple-system"/>
                <a:ea typeface="-apple-system"/>
              </a:rPr>
              <a:t> </a:t>
            </a:r>
            <a:endParaRPr sz="1600" b="0" i="0">
              <a:solidFill>
                <a:srgbClr val="FFFFFF"/>
              </a:solidFill>
              <a:latin typeface="-apple-system"/>
              <a:ea typeface="-apple-system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8330" y="5105400"/>
            <a:ext cx="1096899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ru-RU" sz="1600" b="1" i="0">
                <a:solidFill>
                  <a:schemeClr val="tx1"/>
                </a:solidFill>
                <a:latin typeface="-apple-system"/>
                <a:ea typeface="-apple-system"/>
              </a:rPr>
              <a:t>П</a:t>
            </a:r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ример: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 API возвращает</a:t>
            </a:r>
            <a:r>
              <a:rPr lang="ru-RU" sz="1600" b="0" i="0">
                <a:solidFill>
                  <a:schemeClr val="tx1"/>
                </a:solidFill>
                <a:latin typeface="-apple-system"/>
                <a:ea typeface="-apple-system"/>
              </a:rPr>
              <a:t> 404 на </a:t>
            </a:r>
            <a:r>
              <a:rPr lang="en-US" altLang="ru-RU" sz="1600" b="0" i="0">
                <a:solidFill>
                  <a:schemeClr val="tx1"/>
                </a:solidFill>
                <a:latin typeface="-apple-system"/>
                <a:ea typeface="-apple-system"/>
              </a:rPr>
              <a:t>GET/products/999 - </a:t>
            </a:r>
            <a:r>
              <a:rPr lang="ru-RU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товара нет. 401 - запрос без токена. 403 - токен есть, </a:t>
            </a:r>
            <a:r>
              <a:rPr lang="en-US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но роль «гость», а ресурс только для «админа». </a:t>
            </a:r>
            <a:r>
              <a:rPr lang="ru-RU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 500 - </a:t>
            </a:r>
            <a:r>
              <a:rPr lang="en-US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— упала база.</a:t>
            </a:r>
            <a:endParaRPr lang="en-US" altLang="en-US"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Cookies: что это и как работает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Cookie — небольшой фрагмент данных, который сервер отправляет браузеру, а браузер возвращает при каждом следующем запросе к тому же домену.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Атрибуты:</a:t>
            </a:r>
            <a:endParaRPr lang="en-US" altLang="en-US"/>
          </a:p>
          <a:p>
            <a:pPr marL="0" indent="0">
              <a:buNone/>
            </a:pPr>
            <a:r>
              <a:rPr lang="lv-LV" altLang="en-US"/>
              <a:t>HttpOnly - </a:t>
            </a:r>
            <a:r>
              <a:rPr lang="en-US" altLang="en-US"/>
              <a:t>недоступен из JavaScript (защита от XSS)</a:t>
            </a:r>
            <a:endParaRPr lang="en-US" altLang="en-US"/>
          </a:p>
          <a:p>
            <a:pPr marL="0" indent="0">
              <a:buNone/>
            </a:pPr>
            <a:r>
              <a:rPr lang="lv-LV" altLang="en-US"/>
              <a:t>Secure - </a:t>
            </a:r>
            <a:r>
              <a:rPr lang="en-US" altLang="en-US"/>
              <a:t>тправляется только по HTTPS</a:t>
            </a:r>
            <a:endParaRPr lang="en-US" altLang="en-US"/>
          </a:p>
          <a:p>
            <a:pPr marL="0" indent="0">
              <a:buNone/>
            </a:pPr>
            <a:r>
              <a:rPr lang="lv-LV" altLang="en-US"/>
              <a:t>SameSite=Strict/Lax/None - </a:t>
            </a:r>
            <a:r>
              <a:rPr lang="en-US" altLang="en-US"/>
              <a:t>защита от CSRF</a:t>
            </a:r>
            <a:endParaRPr lang="en-US" altLang="en-US"/>
          </a:p>
          <a:p>
            <a:pPr marL="0" indent="0">
              <a:buNone/>
            </a:pPr>
            <a:r>
              <a:rPr lang="lv-LV" altLang="en-US"/>
              <a:t>Max-age/Expires - </a:t>
            </a:r>
            <a:r>
              <a:rPr lang="en-US" altLang="en-US"/>
              <a:t>время жизни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2" name="Picture 1" descr="Снимок экрана — 2026-09-02 в 22.45.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65" y="2257425"/>
            <a:ext cx="7251700" cy="1524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702425" y="4805680"/>
            <a:ext cx="515493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1600" b="1" i="0">
                <a:solidFill>
                  <a:schemeClr val="tx1"/>
                </a:solidFill>
                <a:latin typeface="-apple-system"/>
                <a:ea typeface="-apple-system"/>
              </a:rPr>
              <a:t>П</a:t>
            </a:r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ример:</a:t>
            </a:r>
            <a:r>
              <a:rPr lang="lv-LV" sz="1600" b="1" i="0">
                <a:solidFill>
                  <a:schemeClr val="tx1"/>
                </a:solidFill>
                <a:latin typeface="-apple-system"/>
                <a:ea typeface="-apple-system"/>
              </a:rPr>
              <a:t> 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 после входа сервер ставит куку</a:t>
            </a:r>
            <a:r>
              <a:rPr lang="lv-LV" sz="1600" b="0" i="0">
                <a:solidFill>
                  <a:schemeClr val="tx1"/>
                </a:solidFill>
                <a:latin typeface="-apple-system"/>
                <a:ea typeface="-apple-system"/>
              </a:rPr>
              <a:t> </a:t>
            </a:r>
            <a:endParaRPr lang="lv-LV" sz="16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/>
            <a:r>
              <a:rPr lang="lv-LV" sz="1600" b="0" i="0">
                <a:solidFill>
                  <a:schemeClr val="tx1"/>
                </a:solidFill>
                <a:latin typeface="-apple-system"/>
                <a:ea typeface="-apple-system"/>
              </a:rPr>
              <a:t>AuthCookies=encrypted-ticket. </a:t>
            </a:r>
            <a:r>
              <a:rPr lang="en-US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При каждом запросе браузер автоматически её отправляет. Middleware ASP.NET Core читает куку, расшифровывает и определяет, кто пришёл.</a:t>
            </a:r>
            <a:endParaRPr lang="en-US" altLang="en-US"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Что такое ASP.NET Core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ASP.NET Core — кроссплатформенный веб-фреймворк от Microsoft. Работает на Windows, Linux, macOS. Лёгкий, модульный, быстрый.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Ключевые свойства:</a:t>
            </a:r>
            <a:endParaRPr lang="en-US" altLang="en-US"/>
          </a:p>
          <a:p>
            <a:r>
              <a:rPr lang="en-US" altLang="en-US"/>
              <a:t>Кроссплатформенный (.NET 8 / .NET 9)</a:t>
            </a:r>
            <a:endParaRPr lang="en-US" altLang="en-US"/>
          </a:p>
          <a:p>
            <a:r>
              <a:rPr lang="en-US" altLang="en-US"/>
              <a:t>Модульный: подключаешь только то, что нужно (через NuGet-пакеты)</a:t>
            </a:r>
            <a:endParaRPr lang="en-US" altLang="en-US"/>
          </a:p>
          <a:p>
            <a:r>
              <a:rPr lang="en-US" altLang="en-US"/>
              <a:t>Высокая производительность (один из самых быстрых веб-фреймворков по бенчмаркам TechEmpower)</a:t>
            </a:r>
            <a:endParaRPr lang="en-US" altLang="en-US"/>
          </a:p>
          <a:p>
            <a:r>
              <a:rPr lang="en-US" altLang="en-US"/>
              <a:t>Встроенный DI-контейнер</a:t>
            </a:r>
            <a:endParaRPr lang="en-US" altLang="en-US"/>
          </a:p>
          <a:p>
            <a:r>
              <a:rPr lang="en-US" altLang="en-US"/>
              <a:t>Встроенный веб-сервер Kestrel</a:t>
            </a:r>
            <a:endParaRPr lang="en-US" altLang="en-US"/>
          </a:p>
          <a:p>
            <a:r>
              <a:rPr lang="en-US" altLang="en-US"/>
              <a:t>Unified-модель: MVC, Web API, SignalR, Minimal API — в одном фреймворке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Структура проекта ASP.NET Core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При создании проекта</a:t>
            </a:r>
            <a:r>
              <a:rPr lang="ru-RU" altLang="en-US"/>
              <a:t> </a:t>
            </a:r>
            <a:r>
              <a:rPr lang="lv-LV" altLang="ru-RU"/>
              <a:t>dotnet new mvc </a:t>
            </a:r>
            <a:r>
              <a:rPr lang="en-US" altLang="en-US"/>
              <a:t>получается:</a:t>
            </a:r>
            <a:endParaRPr lang="en-US" altLang="en-US"/>
          </a:p>
        </p:txBody>
      </p:sp>
      <p:pic>
        <p:nvPicPr>
          <p:cNvPr id="6" name="Picture 5" descr="Снимок экрана — 2026-09-02 в 22.53.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1977390"/>
            <a:ext cx="5786755" cy="47834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Program.cs: анатомия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Минимальный</a:t>
            </a:r>
            <a:r>
              <a:rPr lang="lv-LV" altLang="en-US"/>
              <a:t> Program.cs </a:t>
            </a:r>
            <a:endParaRPr lang="lv-LV" altLang="en-US"/>
          </a:p>
          <a:p>
            <a:pPr marL="0" indent="0">
              <a:buNone/>
            </a:pPr>
            <a:r>
              <a:rPr lang="en-US" altLang="en-US"/>
              <a:t>в ASP.NET Core: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Две зоны:</a:t>
            </a:r>
            <a:endParaRPr lang="en-US" altLang="en-US"/>
          </a:p>
          <a:p>
            <a:r>
              <a:rPr lang="en-US" altLang="en-US"/>
              <a:t>До</a:t>
            </a:r>
            <a:r>
              <a:rPr lang="lv-LV" altLang="en-US"/>
              <a:t> Build() -</a:t>
            </a:r>
            <a:r>
              <a:rPr lang="en-US" altLang="en-US"/>
              <a:t> регистрация (что приложению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понадобится: сервисы, конфигурация)</a:t>
            </a:r>
            <a:endParaRPr lang="en-US" altLang="en-US"/>
          </a:p>
          <a:p>
            <a:r>
              <a:rPr lang="ru-RU" altLang="en-US"/>
              <a:t>После </a:t>
            </a:r>
            <a:r>
              <a:rPr lang="lv-LV" altLang="ru-RU"/>
              <a:t>Build() - </a:t>
            </a:r>
            <a:r>
              <a:rPr lang="en-US" altLang="en-US"/>
              <a:t>конвейер (как обрабатывается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каждый запрос)</a:t>
            </a:r>
            <a:endParaRPr lang="en-US" altLang="en-US"/>
          </a:p>
        </p:txBody>
      </p:sp>
      <p:pic>
        <p:nvPicPr>
          <p:cNvPr id="6" name="Picture 5" descr="Снимок экрана — 2026-09-02 в 22.55.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75" y="1118870"/>
            <a:ext cx="5151120" cy="55022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56305"/>
            <a:ext cx="10969200" cy="705600"/>
          </a:xfrm>
        </p:spPr>
        <p:txBody>
          <a:bodyPr>
            <a:normAutofit fontScale="90000"/>
          </a:bodyPr>
          <a:p>
            <a:r>
              <a:rPr lang="en-US" altLang="en-US"/>
              <a:t>Конфигурация: appsettings.json</a:t>
            </a:r>
            <a:r>
              <a:rPr lang="lv-LV" altLang="en-US"/>
              <a:t> - </a:t>
            </a:r>
            <a:r>
              <a:rPr lang="en-US" altLang="en-US"/>
              <a:t>— источник настроек приложения. </a:t>
            </a:r>
            <a:endParaRPr lang="en-US" altLang="en-US"/>
          </a:p>
        </p:txBody>
      </p:sp>
      <p:pic>
        <p:nvPicPr>
          <p:cNvPr id="6" name="Picture 5" descr="Снимок экрана — 2026-09-02 в 22.57.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748790"/>
            <a:ext cx="7053580" cy="37299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03860" y="5651500"/>
            <a:ext cx="219773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Чтение в коде:</a:t>
            </a:r>
            <a:endParaRPr sz="1600" b="1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03860" y="1313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lv-LV" altLang="en-US"/>
              <a:t>Json</a:t>
            </a:r>
            <a:endParaRPr lang="lv-LV" altLang="en-US"/>
          </a:p>
        </p:txBody>
      </p:sp>
      <p:pic>
        <p:nvPicPr>
          <p:cNvPr id="9" name="Picture 8" descr="Снимок экрана — 2026-09-02 в 22.59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" y="6077585"/>
            <a:ext cx="8928100" cy="36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Kestrel: встроенный веб-сервер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ASP.NET Core поставляется с собственным веб-сервером — Kestrel. Не нужен IIS.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Сценарии хостинга: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760095" y="2667000"/>
          <a:ext cx="10503535" cy="214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925"/>
                <a:gridCol w="3958590"/>
                <a:gridCol w="3970020"/>
              </a:tblGrid>
              <a:tr h="381000">
                <a:tc>
                  <a:txBody>
                    <a:bodyPr/>
                    <a:p>
                      <a:pPr indent="0" algn="l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Сценарий</a:t>
                      </a:r>
                      <a:endParaRPr sz="14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Описание</a:t>
                      </a:r>
                      <a:endParaRPr sz="14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Когда</a:t>
                      </a:r>
                      <a:endParaRPr sz="14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Kestrel напрямую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ASP.NET Core сам принимает трафик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Внутренние сервисы, микросервисы, контейнеры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Kestrel + Reverse Proxy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Nginx / IIS / Apache перед Kestrel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Публичные сайты (reverse proxy добавляет SSL, rate limiting, кеширование)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Kestrel + IIS (in-process)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IIS делегирует Kestrel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Legacy-инфраструктура Windows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760095" y="5109845"/>
            <a:ext cx="1050353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ru-RU" sz="1600" b="1" i="0">
                <a:solidFill>
                  <a:schemeClr val="tx1"/>
                </a:solidFill>
                <a:latin typeface="-apple-system"/>
                <a:ea typeface="-apple-system"/>
              </a:rPr>
              <a:t>П</a:t>
            </a:r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ример:</a:t>
            </a:r>
            <a:r>
              <a:rPr lang="lv-LV" sz="1600" b="1" i="0">
                <a:solidFill>
                  <a:schemeClr val="tx1"/>
                </a:solidFill>
                <a:latin typeface="-apple-system"/>
                <a:ea typeface="-apple-system"/>
              </a:rPr>
              <a:t> 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типичный продакшн — Docker-контейнер с Kestrel на порту 8080, перед ним Nginx с SSL-сертификатом и ограничением частоты запросов.</a:t>
            </a:r>
            <a:endParaRPr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Внедрение зависимостей: концепция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Внедрение зависимостей (Dependency Injection, DI) — паттерн, при котором объект не создаёт свои зависимости сам, а получает их извне.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Без DI</a:t>
            </a:r>
            <a:r>
              <a:rPr lang="ru-RU" altLang="en-US"/>
              <a:t>:</a:t>
            </a: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en-US" altLang="en-US"/>
              <a:t>С DI</a:t>
            </a:r>
            <a:r>
              <a:rPr lang="ru-RU" altLang="en-US"/>
              <a:t>:</a:t>
            </a:r>
            <a:endParaRPr lang="en-US" altLang="en-US"/>
          </a:p>
          <a:p>
            <a:pPr marL="0" indent="0">
              <a:buNone/>
            </a:pPr>
            <a:endParaRPr lang="ru-RU" altLang="en-US"/>
          </a:p>
        </p:txBody>
      </p:sp>
      <p:pic>
        <p:nvPicPr>
          <p:cNvPr id="6" name="Picture 5" descr="Снимок экрана — 2026-09-02 в 23.13.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40" y="2353310"/>
            <a:ext cx="7534910" cy="1245870"/>
          </a:xfrm>
          <a:prstGeom prst="rect">
            <a:avLst/>
          </a:prstGeom>
        </p:spPr>
      </p:pic>
      <p:pic>
        <p:nvPicPr>
          <p:cNvPr id="7" name="Picture 6" descr="Снимок экрана — 2026-09-02 в 23.13.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840" y="3874770"/>
            <a:ext cx="6617970" cy="27349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DI-контейнер в ASP.NET Core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ASP.NET Core имеет встроенный DI-контейнер. Не нужны Autofac, Ninject — всё из коробки.</a:t>
            </a:r>
            <a:endParaRPr lang="en-US" altLang="en-US"/>
          </a:p>
          <a:p>
            <a:r>
              <a:rPr lang="en-US" altLang="en-US"/>
              <a:t>Регистрация в </a:t>
            </a:r>
            <a:r>
              <a:rPr lang="lv-LV" altLang="en-US"/>
              <a:t>Program.cs</a:t>
            </a:r>
            <a:endParaRPr lang="lv-LV" altLang="en-US"/>
          </a:p>
          <a:p>
            <a:endParaRPr lang="lv-LV" altLang="en-US"/>
          </a:p>
          <a:p>
            <a:endParaRPr lang="lv-LV" altLang="en-US"/>
          </a:p>
          <a:p>
            <a:endParaRPr lang="lv-LV" altLang="en-US"/>
          </a:p>
          <a:p>
            <a:r>
              <a:rPr lang="en-US" altLang="en-US"/>
              <a:t>Использование — через конструктор:</a:t>
            </a:r>
            <a:endParaRPr lang="en-US" altLang="en-US"/>
          </a:p>
        </p:txBody>
      </p:sp>
      <p:pic>
        <p:nvPicPr>
          <p:cNvPr id="6" name="Picture 5" descr="Снимок экрана — 2026-09-02 в 23.15.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800350"/>
            <a:ext cx="6248400" cy="1100455"/>
          </a:xfrm>
          <a:prstGeom prst="rect">
            <a:avLst/>
          </a:prstGeom>
        </p:spPr>
      </p:pic>
      <p:pic>
        <p:nvPicPr>
          <p:cNvPr id="7" name="Picture 6" descr="Снимок экрана — 2026-09-02 в 23.15.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980" y="4277360"/>
            <a:ext cx="6117590" cy="218821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28980" y="519080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ct val="150000"/>
              </a:lnSpc>
            </a:pP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Контейнер сам создаёт объекты, </a:t>
            </a:r>
            <a:r>
              <a:rPr lang="ru-RU" sz="1600" b="0" i="0">
                <a:solidFill>
                  <a:schemeClr val="tx1"/>
                </a:solidFill>
                <a:latin typeface="-apple-system"/>
                <a:ea typeface="-apple-system"/>
              </a:rPr>
              <a:t>находит 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их зависимости, следит за жизненным циклом.</a:t>
            </a:r>
            <a:endParaRPr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Паттерн MVC: что и зачем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MVC (Model-View-Controller) — паттерн, разделяющий приложение на три слоя: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880110" y="2133600"/>
          <a:ext cx="10024110" cy="173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840"/>
                <a:gridCol w="5168900"/>
                <a:gridCol w="3341370"/>
              </a:tblGrid>
              <a:tr h="381000"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Слой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Ответственность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 marL="0" indent="0" algn="l">
                        <a:lnSpc>
                          <a:spcPts val="2800"/>
                        </a:lnSpc>
                      </a:pPr>
                      <a:r>
                        <a:rPr sz="1600" b="0">
                          <a:solidFill>
                            <a:srgbClr val="FFFFFF"/>
                          </a:solidFill>
                          <a:latin typeface="-apple-system"/>
                          <a:ea typeface="-apple-system"/>
                        </a:rPr>
                        <a:t>Пример</a:t>
                      </a:r>
                      <a:endParaRPr sz="1600" b="0">
                        <a:solidFill>
                          <a:srgbClr val="FFFFF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Model</a:t>
                      </a:r>
                      <a:endParaRPr sz="1400" b="1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Данные и бизнес-логика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lv-LV" altLang="en-US" sz="1400"/>
                        <a:t>Order, OrderRepository, OrderService</a:t>
                      </a:r>
                      <a:endParaRPr lang="lv-LV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View</a:t>
                      </a:r>
                      <a:endParaRPr sz="1400" b="1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Отображение данных пользователю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lv-LV" altLang="en-US" sz="1400"/>
                        <a:t>Index.cshtml - </a:t>
                      </a:r>
                      <a:r>
                        <a:rPr lang="en-US" altLang="en-US" sz="1400"/>
                        <a:t>HTML-страница со списком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Controller</a:t>
                      </a:r>
                      <a:endParaRPr sz="1400" b="1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305117" marT="101917" marB="101917"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ts val="1500"/>
                        </a:lnSpc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Обработка запроса, координация Model и View</a:t>
                      </a:r>
                      <a:endParaRPr sz="1400" b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305117" marR="305117" marT="101917" marB="101917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lv-LV" altLang="en-US" sz="1400"/>
                        <a:t>OrderController - </a:t>
                      </a:r>
                      <a:r>
                        <a:rPr lang="en-US" altLang="en-US" sz="1400"/>
                        <a:t>принимает запрос, вызывает сервис, возвращает View</a:t>
                      </a:r>
                      <a:endParaRPr lang="en-US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016000" y="4536440"/>
            <a:ext cx="988822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Почему не писать всё в одном файле?</a:t>
            </a:r>
            <a:endParaRPr sz="1600" b="1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>
              <a:lnSpc>
                <a:spcPct val="150000"/>
              </a:lnSpc>
            </a:pP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 Разделение = независимость. Меняем UI — не трогаем логику. Меняем БД — не трогаем контроллеры. Тестируем логику отдельно от UI.</a:t>
            </a:r>
            <a:endParaRPr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MVC в ASP.NET Core: путь запроса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1. Запрос: GET /orders/42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2. Kestrel принимает HTTP-запрос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3. UseRouting → маршрут "{controller}/{action}/{id?}"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4. OrdersController.Edit(42)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5. Controller вызывает _repo.GetById(42) → Model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6. Controller возвращает View(order) → Razor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7. Razor рендерит Edit.cshtml + _Layout.cshtml → HTML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       ↓</a:t>
            </a:r>
            <a:endParaRPr lang="en-US" alt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400"/>
              <a:t>8. HTTP-ответ 200 OK + HTML</a:t>
            </a:r>
            <a:endParaRPr lang="en-US" altLang="en-US" sz="1400"/>
          </a:p>
          <a:p>
            <a:pPr>
              <a:lnSpc>
                <a:spcPct val="100000"/>
              </a:lnSpc>
            </a:pPr>
            <a:endParaRPr lang="en-US" altLang="en-US" sz="800"/>
          </a:p>
        </p:txBody>
      </p:sp>
      <p:sp>
        <p:nvSpPr>
          <p:cNvPr id="6" name="Text Box 5"/>
          <p:cNvSpPr txBox="1"/>
          <p:nvPr/>
        </p:nvSpPr>
        <p:spPr>
          <a:xfrm>
            <a:off x="6054090" y="1490345"/>
            <a:ext cx="573976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solidFill>
                  <a:schemeClr val="tx1"/>
                </a:solidFill>
                <a:latin typeface="-apple-system"/>
                <a:ea typeface="-apple-system"/>
              </a:rPr>
              <a:t>Важно:</a:t>
            </a:r>
            <a:r>
              <a:rPr lang="lv-LV" sz="1600" b="1" i="0">
                <a:solidFill>
                  <a:schemeClr val="tx1"/>
                </a:solidFill>
                <a:latin typeface="-apple-system"/>
                <a:ea typeface="-apple-system"/>
              </a:rPr>
              <a:t> </a:t>
            </a:r>
            <a:r>
              <a:rPr sz="1600" b="0" i="0">
                <a:solidFill>
                  <a:schemeClr val="tx1"/>
                </a:solidFill>
                <a:latin typeface="-apple-system"/>
                <a:ea typeface="-apple-system"/>
              </a:rPr>
              <a:t>Controller — тонкий координатор. Логика — в сервисах. Работа с данными — в репозиториях. Контроллер только связывает.</a:t>
            </a:r>
            <a:endParaRPr sz="1600" b="0" i="0">
              <a:solidFill>
                <a:schemeClr val="tx1"/>
              </a:solidFill>
              <a:latin typeface="-apple-system"/>
              <a:ea typeface="-apple-system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97320" y="333152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Razor — это движок шаблонов (view engine) в ASP.NET, который позволяет смешивать HTML и C#‑код, чтобы динамически генерировать HTML‑страницы.</a:t>
            </a:r>
            <a:endParaRPr sz="1600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Контроллер: пример</a:t>
            </a:r>
            <a:endParaRPr lang="en-US" altLang="en-US"/>
          </a:p>
        </p:txBody>
      </p:sp>
      <p:pic>
        <p:nvPicPr>
          <p:cNvPr id="6" name="Picture 5" descr="Снимок экрана — 2026-09-02 в 23.27.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313815"/>
            <a:ext cx="5342255" cy="5426075"/>
          </a:xfrm>
          <a:prstGeom prst="rect">
            <a:avLst/>
          </a:prstGeom>
        </p:spPr>
      </p:pic>
      <p:pic>
        <p:nvPicPr>
          <p:cNvPr id="7" name="Picture 6" descr="Снимок экрана — 2026-09-02 в 23.28.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1313815"/>
            <a:ext cx="4708525" cy="23380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569710" y="4455795"/>
            <a:ext cx="46050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lv-LV" altLang="en-US"/>
              <a:t>return View() - </a:t>
            </a:r>
            <a:r>
              <a:rPr lang="ru-RU" altLang="lv-LV"/>
              <a:t>рендерит </a:t>
            </a:r>
            <a:r>
              <a:rPr lang="lv-LV" altLang="ru-RU"/>
              <a:t>html</a:t>
            </a:r>
            <a:endParaRPr lang="lv-LV" altLang="ru-RU"/>
          </a:p>
          <a:p>
            <a:r>
              <a:rPr lang="lv-LV" altLang="ru-RU"/>
              <a:t>return Json() - </a:t>
            </a:r>
            <a:r>
              <a:rPr lang="ru-RU" altLang="lv-LV"/>
              <a:t>рендерит </a:t>
            </a:r>
            <a:r>
              <a:rPr lang="lv-LV" altLang="ru-RU"/>
              <a:t>Json</a:t>
            </a:r>
            <a:endParaRPr lang="lv-LV" altLang="ru-RU"/>
          </a:p>
          <a:p>
            <a:r>
              <a:rPr lang="lv-LV" altLang="ru-RU"/>
              <a:t>return NotFound() - HTTP 404</a:t>
            </a:r>
            <a:endParaRPr lang="lv-LV" altLang="ru-RU"/>
          </a:p>
          <a:p>
            <a:endParaRPr lang="lv-LV" altLang="ru-RU"/>
          </a:p>
          <a:p>
            <a:r>
              <a:rPr lang="en-US" altLang="en-US"/>
              <a:t>Один контроллер может обслуживать и страницы, и API.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Model binding в ASP.NET Core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457200">
              <a:buNone/>
            </a:pPr>
            <a:r>
              <a:rPr lang="en-US" altLang="en-US"/>
              <a:t>Model binding в ASP.NET Core — это механизм, который автоматически берёт данные из HTTP‑запроса (из query‑параметров, формы, тела JSON, маршрута и т. п.) и превращает их в аргументы метода контроллера или свойства модели - </a:t>
            </a:r>
            <a:r>
              <a:rPr lang="ru-RU" altLang="en-US"/>
              <a:t>т.е. </a:t>
            </a:r>
            <a:r>
              <a:rPr lang="en-US" altLang="en-US"/>
              <a:t>вы не пишете вручную «взять</a:t>
            </a:r>
            <a:r>
              <a:rPr lang="ru-RU" altLang="en-US"/>
              <a:t> </a:t>
            </a:r>
            <a:r>
              <a:rPr lang="en-US" altLang="ru-RU"/>
              <a:t>title </a:t>
            </a:r>
            <a:r>
              <a:rPr lang="en-US" altLang="en-US"/>
              <a:t>из формы и положить в переменную», фреймворк делает это сам.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есть форма:						И контроллер: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Здесь model binding сам нашёл параметры по именам и подставил значения.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03 в 00.05.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" y="3831590"/>
            <a:ext cx="4552315" cy="1111250"/>
          </a:xfrm>
          <a:prstGeom prst="rect">
            <a:avLst/>
          </a:prstGeom>
        </p:spPr>
      </p:pic>
      <p:pic>
        <p:nvPicPr>
          <p:cNvPr id="7" name="Picture 6" descr="Снимок экрана — 2026-09-03 в 00.06.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3831590"/>
            <a:ext cx="5586095" cy="16071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Как это работает «под капотом»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Фреймворк смотрит сигнатуру метода контроллера.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Для каждого параметра определяет источник (query, form, body, route).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Берёт сырые данные (они всегда приходят как строки или поток байтов).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Преобразует типы: строку "42" </a:t>
            </a:r>
            <a:r>
              <a:rPr lang="ru-RU" altLang="en-US"/>
              <a:t>в </a:t>
            </a:r>
            <a:r>
              <a:rPr lang="en-US" altLang="ru-RU"/>
              <a:t>int</a:t>
            </a:r>
            <a:r>
              <a:rPr lang="en-US" altLang="en-US"/>
              <a:t>, JSON в объект и т.д.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Заполняет свойства (нужен public setter).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Запускает валидацию (если подключена, например, через Data Annotations).</a:t>
            </a:r>
            <a:endParaRPr lang="en-US" altLang="en-US"/>
          </a:p>
          <a:p>
            <a:pPr marL="342900" indent="-342900">
              <a:buFont typeface="+mj-lt"/>
              <a:buAutoNum type="arabicPeriod"/>
            </a:pPr>
            <a:r>
              <a:rPr lang="en-US" altLang="en-US"/>
              <a:t>Передаёт готовый объект в метод контроллера.</a:t>
            </a:r>
            <a:endParaRPr lang="en-US" altLang="en-US"/>
          </a:p>
          <a:p>
            <a:pPr marL="0" indent="457200">
              <a:buFont typeface="+mj-lt"/>
              <a:buNone/>
            </a:pPr>
            <a:r>
              <a:rPr lang="en-US" altLang="en-US"/>
              <a:t>Если что‑то не получилось (неверный формат, не хватает обязательного поля), в MVC это видно через ModelState.IsValid, а в Web API обычно сразу возвращается ошибка 400.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Практическая работа</a:t>
            </a:r>
            <a:endParaRPr lang="ru-RU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/>
              <a:t>Мини-приложение </a:t>
            </a:r>
            <a:r>
              <a:rPr lang="en-US" altLang="ru-RU"/>
              <a:t>"</a:t>
            </a:r>
            <a:r>
              <a:rPr lang="ru-RU" altLang="en-US"/>
              <a:t>Задачник</a:t>
            </a:r>
            <a:r>
              <a:rPr lang="en-US" altLang="ru-RU"/>
              <a:t>"</a:t>
            </a:r>
            <a:endParaRPr lang="en-US" altLang="ru-RU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8641</Words>
  <Application>WPS Presentation</Application>
  <PresentationFormat>Widescreen</PresentationFormat>
  <Paragraphs>352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SimSun</vt:lpstr>
      <vt:lpstr>Wingdings</vt:lpstr>
      <vt:lpstr>Wingdings</vt:lpstr>
      <vt:lpstr>-apple-system</vt:lpstr>
      <vt:lpstr>Thonburi</vt:lpstr>
      <vt:lpstr>Helvetica Neue</vt:lpstr>
      <vt:lpstr>Microsoft YaHei</vt:lpstr>
      <vt:lpstr>汉仪旗黑</vt:lpstr>
      <vt:lpstr>Arial Unicode MS</vt:lpstr>
      <vt:lpstr>Calibri</vt:lpstr>
      <vt:lpstr>宋体-简</vt:lpstr>
      <vt:lpstr>Helvetica Neue Bold</vt:lpstr>
      <vt:lpstr>WPS</vt:lpstr>
      <vt:lpstr>Архитектура ASP.NET Core</vt:lpstr>
      <vt:lpstr>Клиент-серверная архитектура</vt:lpstr>
      <vt:lpstr>Из чего состоит HTTP-запрос</vt:lpstr>
      <vt:lpstr>PowerPoint 演示文稿</vt:lpstr>
      <vt:lpstr>PowerPoint 演示文稿</vt:lpstr>
      <vt:lpstr>Из чего состоит HTTP-ответ</vt:lpstr>
      <vt:lpstr>PowerPoint 演示文稿</vt:lpstr>
      <vt:lpstr>PowerPoint 演示文稿</vt:lpstr>
      <vt:lpstr>HTTP-методы и их семантика</vt:lpstr>
      <vt:lpstr>Коды состояний HTTP</vt:lpstr>
      <vt:lpstr>Cookies: что это и как работает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ASP.NET Core</dc:title>
  <dc:creator>oksanaroslova</dc:creator>
  <cp:lastModifiedBy>Oksana Roslova</cp:lastModifiedBy>
  <cp:revision>67</cp:revision>
  <dcterms:created xsi:type="dcterms:W3CDTF">2026-09-02T21:20:18Z</dcterms:created>
  <dcterms:modified xsi:type="dcterms:W3CDTF">2026-09-02T21:20:18Z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49B348CEF8E904AAE570986AC833F829_41</vt:lpwstr>
  </property>
</Properties>
</file>