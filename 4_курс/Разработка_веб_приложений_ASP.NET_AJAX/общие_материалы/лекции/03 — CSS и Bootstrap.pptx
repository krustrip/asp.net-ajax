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 bwMode="auto">
          <a:xfrm>
            <a:off x="1198800" y="1788795"/>
            <a:ext cx="9799200" cy="2570400"/>
          </a:xfrm>
        </p:spPr>
        <p:txBody>
          <a:bodyPr/>
          <a:p>
            <a:pPr>
              <a:defRPr/>
            </a:pPr>
            <a:r>
              <a:rPr lang="en-US"/>
              <a:t>CSS и Bootstrap в ASP.NET Core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Статические файлы и wwwroot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wwwroot - </a:t>
            </a:r>
            <a:r>
              <a:rPr lang="en-US"/>
              <a:t>корневая папка для статических файлов (CSS, JS, изображения) </a:t>
            </a:r>
            <a:endParaRPr lang="en-US"/>
          </a:p>
          <a:p>
            <a:pPr>
              <a:defRPr/>
            </a:pPr>
            <a:r>
              <a:rPr lang="en-US"/>
              <a:t>Файлы из wwwroot отдаются напрямую по HTTP</a:t>
            </a:r>
            <a:endParaRPr lang="en-US"/>
          </a:p>
          <a:p>
            <a:pPr>
              <a:defRPr/>
            </a:pPr>
            <a:r>
              <a:rPr lang="en-US"/>
              <a:t>Middleware UseStaticFiles()  включает раздачу статических файлов </a:t>
            </a:r>
            <a:endParaRPr lang="en-US"/>
          </a:p>
          <a:p>
            <a:pPr>
              <a:defRPr/>
            </a:pPr>
            <a:r>
              <a:rPr lang="en-US"/>
              <a:t>По умолчанию URL-путь к файлу: /css/site.css -&gt; wwwroot/css/site.css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auto"/>
        <p:txBody>
          <a:bodyPr/>
          <a:p>
            <a:pPr marL="0" indent="0">
              <a:buNone/>
              <a:defRPr/>
            </a:pPr>
            <a:r>
              <a:rPr lang="en-US"/>
              <a:t>Структура wwwroot:				Program.cs: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wwwroot/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├── css/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│   └── site.css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├── js/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│   └── site.js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├── lib/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│   ├── bootstrap/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│   └── jquery/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└── images/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    └── logo.png</a:t>
            </a:r>
            <a:endParaRPr lang="en-US"/>
          </a:p>
          <a:p>
            <a:pPr marL="0" indent="0">
              <a:buNone/>
              <a:defRPr/>
            </a:pPr>
            <a:endParaRPr lang="en-US"/>
          </a:p>
        </p:txBody>
      </p:sp>
      <p:pic>
        <p:nvPicPr>
          <p:cNvPr id="5" name="Picture 4" descr="Снимок экрана — 2026-09-10 в 20.10.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4802505" y="1524635"/>
            <a:ext cx="6673215" cy="3809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Подключение CSS в представлении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Тег &lt;link&gt; со ссылкой на файл из wwwroot</a:t>
            </a:r>
            <a:endParaRPr lang="en-US"/>
          </a:p>
          <a:p>
            <a:pPr>
              <a:defRPr/>
            </a:pPr>
            <a:r>
              <a:rPr lang="en-US"/>
              <a:t>Символ "</a:t>
            </a:r>
            <a:r>
              <a:rPr lang="lv-LV"/>
              <a:t>~</a:t>
            </a:r>
            <a:r>
              <a:rPr lang="en-US"/>
              <a:t>"</a:t>
            </a:r>
            <a:r>
              <a:rPr lang="lv-LV"/>
              <a:t> </a:t>
            </a:r>
            <a:r>
              <a:rPr lang="en-US"/>
              <a:t>указывает на корень wwwroot</a:t>
            </a:r>
            <a:endParaRPr lang="en-US"/>
          </a:p>
          <a:p>
            <a:pPr>
              <a:defRPr/>
            </a:pPr>
            <a:r>
              <a:rPr lang="en-US"/>
              <a:t>Тег-хелпер asp-append-version добавляет хэш в URL — для сброса кэша браузера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В _Layout.cshtml: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asp-append-version="true"генерирует: site.css?v=abc123hash — при изменении файла хэш меняется, браузер </a:t>
            </a:r>
            <a:r>
              <a:rPr lang="ru-RU"/>
              <a:t>понимает, что надо загрузить свежую версию хэша</a:t>
            </a:r>
            <a:r>
              <a:rPr lang="en-US"/>
              <a:t>.</a:t>
            </a:r>
            <a:endParaRPr lang="en-US"/>
          </a:p>
        </p:txBody>
      </p:sp>
      <p:pic>
        <p:nvPicPr>
          <p:cNvPr id="6" name="Picture 5" descr="Снимок экрана — 2026-09-10 в 20.13.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608330" y="3619500"/>
            <a:ext cx="8826500" cy="128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Bundling — объединение файлов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Bundling — объединение нескольких CSS/JS файлов в один </a:t>
            </a:r>
            <a:endParaRPr lang="en-US"/>
          </a:p>
          <a:p>
            <a:pPr>
              <a:defRPr/>
            </a:pPr>
            <a:r>
              <a:rPr lang="en-US"/>
              <a:t>Зачем: меньше HTTP-запросов к серверу → быстрее загрузка</a:t>
            </a:r>
            <a:endParaRPr lang="en-US"/>
          </a:p>
          <a:p>
            <a:pPr>
              <a:defRPr/>
            </a:pPr>
            <a:r>
              <a:rPr lang="en-US"/>
              <a:t>Конфигурация через bundleconfig.json в корне проекта </a:t>
            </a:r>
            <a:endParaRPr lang="en-US"/>
          </a:p>
          <a:p>
            <a:pPr>
              <a:defRPr/>
            </a:pPr>
            <a:r>
              <a:rPr lang="en-US"/>
              <a:t>Пакет NuGet BuilBunderMinifier - автоматически обрабатывает при сборке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bundleconfig.json:</a:t>
            </a:r>
            <a:endParaRPr lang="en-US"/>
          </a:p>
        </p:txBody>
      </p:sp>
      <p:pic>
        <p:nvPicPr>
          <p:cNvPr id="6" name="Picture 5" descr="Снимок экрана — 2026-09-10 в 20.22.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3409315" y="3429000"/>
            <a:ext cx="4492625" cy="3410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Minification — минификация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Minification — удаление пробелов, комментариев, переносов строк, сокращение имён переменных </a:t>
            </a:r>
            <a:endParaRPr lang="en-US"/>
          </a:p>
          <a:p>
            <a:pPr>
              <a:defRPr/>
            </a:pPr>
            <a:r>
              <a:rPr lang="en-US"/>
              <a:t>Цель: уменьшить размер файла → быстрее передача</a:t>
            </a:r>
            <a:endParaRPr lang="en-US"/>
          </a:p>
          <a:p>
            <a:pPr>
              <a:defRPr/>
            </a:pPr>
            <a:r>
              <a:rPr lang="en-US"/>
              <a:t>Включается через параметр minify </a:t>
            </a:r>
            <a:r>
              <a:rPr lang="ru-RU"/>
              <a:t>в </a:t>
            </a:r>
            <a:r>
              <a:rPr lang="en-US"/>
              <a:t>bundleconfig.json</a:t>
            </a:r>
            <a:endParaRPr lang="en-US"/>
          </a:p>
          <a:p>
            <a:pPr>
              <a:defRPr/>
            </a:pPr>
            <a:r>
              <a:rPr lang="en-US"/>
              <a:t>renameLocals: true - </a:t>
            </a:r>
            <a:r>
              <a:rPr lang="en-US"/>
              <a:t>переименование локальных переменных в JS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auto"/>
        <p:txBody>
          <a:bodyPr/>
          <a:p>
            <a:pPr marL="0" indent="0">
              <a:buNone/>
              <a:defRPr/>
            </a:pPr>
            <a:r>
              <a:rPr lang="en-US"/>
              <a:t>bundleconfig.json с настройками минификации:</a:t>
            </a:r>
            <a:endParaRPr lang="en-US"/>
          </a:p>
        </p:txBody>
      </p:sp>
      <p:pic>
        <p:nvPicPr>
          <p:cNvPr id="5" name="Picture 4" descr="Снимок экрана — 2026-09-10 в 20.31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608330" y="1376045"/>
            <a:ext cx="5600700" cy="3213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auto"/>
        <p:txBody>
          <a:bodyPr/>
          <a:p>
            <a:pPr marL="0" indent="0">
              <a:buNone/>
              <a:defRPr/>
            </a:pPr>
            <a:r>
              <a:rPr lang="en-US"/>
              <a:t>До минификации - site.css, 340 байт: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После - site.min.css, ~80 байт:</a:t>
            </a:r>
            <a:endParaRPr lang="en-US"/>
          </a:p>
          <a:p>
            <a:pPr marL="0" indent="0">
              <a:buNone/>
              <a:defRPr/>
            </a:pPr>
            <a:endParaRPr lang="en-US"/>
          </a:p>
        </p:txBody>
      </p:sp>
      <p:pic>
        <p:nvPicPr>
          <p:cNvPr id="5" name="Picture 4" descr="Снимок экрана — 2026-09-10 в 20.32.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684530" y="1477010"/>
            <a:ext cx="4610100" cy="1714500"/>
          </a:xfrm>
          <a:prstGeom prst="rect">
            <a:avLst/>
          </a:prstGeom>
        </p:spPr>
      </p:pic>
      <p:pic>
        <p:nvPicPr>
          <p:cNvPr id="6" name="Picture 5" descr="Снимок экрана — 2026-09-10 в 20.32.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4530" y="4544060"/>
            <a:ext cx="8610600" cy="33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p>
            <a:pPr>
              <a:defRPr/>
            </a:pPr>
            <a:r>
              <a:rPr lang="en-US"/>
              <a:t>Environment Tag Helper — раздельные окружения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Тег &lt;environment&gt; переключает подключаемые файлы в зависимости от окружения </a:t>
            </a:r>
            <a:endParaRPr lang="en-US"/>
          </a:p>
          <a:p>
            <a:pPr>
              <a:defRPr/>
            </a:pPr>
            <a:r>
              <a:rPr lang="en-US"/>
              <a:t>include="Development" - отладочные версии (читаемые)</a:t>
            </a:r>
            <a:endParaRPr lang="en-US"/>
          </a:p>
          <a:p>
            <a:pPr>
              <a:defRPr/>
            </a:pPr>
            <a:r>
              <a:rPr lang="en-US"/>
              <a:t>exclude="Development"- минифицированные версии (продакшн)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В _Layout.cshtml:</a:t>
            </a:r>
            <a:endParaRPr lang="en-US"/>
          </a:p>
        </p:txBody>
      </p:sp>
      <p:pic>
        <p:nvPicPr>
          <p:cNvPr id="6" name="Picture 5" descr="Снимок экрана — 2026-09-10 в 20.35.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215265" y="3538220"/>
            <a:ext cx="8737600" cy="25781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 bwMode="auto">
          <a:xfrm>
            <a:off x="9228455" y="3862705"/>
            <a:ext cx="2469515" cy="20612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defRPr/>
            </a:pPr>
            <a:r>
              <a:rPr sz="1600" b="0" i="0">
                <a:solidFill>
                  <a:schemeClr val="tx1"/>
                </a:solidFill>
                <a:latin typeface="YS Text"/>
                <a:ea typeface="YS Text"/>
              </a:rPr>
              <a:t>В Development — два отдельных читаемых файла. </a:t>
            </a:r>
            <a:endParaRPr sz="1600" b="0" i="0">
              <a:solidFill>
                <a:schemeClr val="tx1"/>
              </a:solidFill>
              <a:latin typeface="YS Text"/>
              <a:ea typeface="YS Text"/>
            </a:endParaRPr>
          </a:p>
          <a:p>
            <a:pPr marL="0" indent="0">
              <a:defRPr/>
            </a:pPr>
            <a:endParaRPr sz="1600" b="0" i="0">
              <a:solidFill>
                <a:schemeClr val="tx1"/>
              </a:solidFill>
              <a:latin typeface="YS Text"/>
              <a:ea typeface="YS Text"/>
            </a:endParaRPr>
          </a:p>
          <a:p>
            <a:pPr marL="0" indent="0">
              <a:defRPr/>
            </a:pPr>
            <a:endParaRPr sz="1600" b="0" i="0">
              <a:solidFill>
                <a:schemeClr val="tx1"/>
              </a:solidFill>
              <a:latin typeface="YS Text"/>
              <a:ea typeface="YS Text"/>
            </a:endParaRPr>
          </a:p>
          <a:p>
            <a:pPr marL="0" indent="0">
              <a:defRPr/>
            </a:pPr>
            <a:r>
              <a:rPr sz="1600" b="0" i="0">
                <a:solidFill>
                  <a:schemeClr val="tx1"/>
                </a:solidFill>
                <a:latin typeface="YS Text"/>
                <a:ea typeface="YS Text"/>
              </a:rPr>
              <a:t>В Production — минифицированные версии.</a:t>
            </a:r>
            <a:endParaRPr sz="1600" b="0" i="0">
              <a:solidFill>
                <a:schemeClr val="tx1"/>
              </a:solidFill>
              <a:latin typeface="YS Text"/>
              <a:ea typeface="YS Tex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Bootstrap — обзор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Bootstrap — CSS-фреймворк для адаптивной вёрстки</a:t>
            </a:r>
            <a:endParaRPr lang="en-US"/>
          </a:p>
          <a:p>
            <a:pPr>
              <a:defRPr/>
            </a:pPr>
            <a:r>
              <a:rPr lang="en-US"/>
              <a:t>В ASP.NET Core включён в шаблон проекта по умолчанию</a:t>
            </a:r>
            <a:endParaRPr lang="en-US"/>
          </a:p>
          <a:p>
            <a:pPr>
              <a:defRPr/>
            </a:pPr>
            <a:r>
              <a:rPr lang="en-US"/>
              <a:t>Ключевые возможности: grid-система, компоненты, утилитарные классы</a:t>
            </a:r>
            <a:endParaRPr lang="en-US"/>
          </a:p>
          <a:p>
            <a:pPr>
              <a:defRPr/>
            </a:pPr>
            <a:r>
              <a:rPr lang="en-US"/>
              <a:t>Подключается через wwwroot/lib/bootstrap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Подключение в _Layout.cshtml:</a:t>
            </a:r>
            <a:endParaRPr lang="en-US"/>
          </a:p>
        </p:txBody>
      </p:sp>
      <p:pic>
        <p:nvPicPr>
          <p:cNvPr id="6" name="Picture 5" descr="Снимок экрана — 2026-09-10 в 20.37.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734695" y="4141470"/>
            <a:ext cx="8839200" cy="210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Bootstrap Grid — сетка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Сетка: 12 колонок, адаптивные breakpoints (xs, sm, md, lg, xl, xxl)</a:t>
            </a:r>
            <a:endParaRPr lang="en-US"/>
          </a:p>
          <a:p>
            <a:pPr>
              <a:defRPr/>
            </a:pPr>
            <a:r>
              <a:rPr lang="en-US"/>
              <a:t>Контейнер → ряд (row) → колонки (col)</a:t>
            </a:r>
            <a:endParaRPr lang="en-US"/>
          </a:p>
          <a:p>
            <a:pPr>
              <a:defRPr/>
            </a:pPr>
            <a:r>
              <a:rPr lang="en-US"/>
              <a:t>col-6 - половина ширины, col-md-4 - треть на средних экранах и выше</a:t>
            </a:r>
            <a:endParaRPr lang="en-US"/>
          </a:p>
          <a:p>
            <a:pPr>
              <a:defRPr/>
            </a:pPr>
            <a:r>
              <a:rPr lang="en-US"/>
              <a:t>col-12 col-md-6 col-lg-4 - разная ширина на разных экранах 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auto"/>
        <p:txBody>
          <a:bodyPr/>
          <a:p>
            <a:pPr marL="0" indent="0">
              <a:buNone/>
              <a:defRPr/>
            </a:pPr>
            <a:r>
              <a:rPr lang="en-US"/>
              <a:t>Пример:</a:t>
            </a:r>
            <a:endParaRPr lang="en-US"/>
          </a:p>
          <a:p>
            <a:pPr marL="0" indent="0">
              <a:buNone/>
              <a:defRPr/>
            </a:pPr>
            <a:endParaRPr lang="en-US"/>
          </a:p>
        </p:txBody>
      </p:sp>
      <p:pic>
        <p:nvPicPr>
          <p:cNvPr id="5" name="Picture 4" descr="Снимок экрана — 2026-09-10 в 20.40.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2280920" y="222250"/>
            <a:ext cx="8343900" cy="641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p>
            <a:pPr>
              <a:defRPr/>
            </a:pPr>
            <a:r>
              <a:rPr lang="en-US"/>
              <a:t>Bootstrap Components — ключевые компоненты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Navbar — адаптивная навигация</a:t>
            </a:r>
            <a:endParaRPr lang="en-US"/>
          </a:p>
          <a:p>
            <a:pPr>
              <a:defRPr/>
            </a:pPr>
            <a:r>
              <a:rPr lang="en-US"/>
              <a:t>Card — карточка с контентом</a:t>
            </a:r>
            <a:endParaRPr lang="en-US"/>
          </a:p>
          <a:p>
            <a:pPr>
              <a:defRPr/>
            </a:pPr>
            <a:r>
              <a:rPr lang="en-US"/>
              <a:t>Alert — уведомления</a:t>
            </a:r>
            <a:endParaRPr lang="en-US"/>
          </a:p>
          <a:p>
            <a:pPr>
              <a:defRPr/>
            </a:pPr>
            <a:r>
              <a:rPr lang="en-US"/>
              <a:t>Button — стилизованные кнопки</a:t>
            </a:r>
            <a:endParaRPr lang="en-US"/>
          </a:p>
          <a:p>
            <a:pPr>
              <a:defRPr/>
            </a:pPr>
            <a:r>
              <a:rPr lang="en-US"/>
              <a:t>Modal — модальное окно</a:t>
            </a:r>
            <a:endParaRPr lang="en-US"/>
          </a:p>
          <a:p>
            <a:pPr>
              <a:defRPr/>
            </a:pPr>
            <a:r>
              <a:rPr lang="en-US"/>
              <a:t>Table — стилизованные таблицы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auto">
          <a:xfrm>
            <a:off x="608330" y="318135"/>
            <a:ext cx="10972800" cy="5938520"/>
          </a:xfrm>
        </p:spPr>
        <p:txBody>
          <a:bodyPr/>
          <a:p>
            <a:pPr marL="0" indent="0">
              <a:buNone/>
              <a:defRPr/>
            </a:pPr>
            <a:r>
              <a:rPr lang="en-US"/>
              <a:t>Примеры компонентов:</a:t>
            </a:r>
            <a:endParaRPr lang="en-US"/>
          </a:p>
        </p:txBody>
      </p:sp>
      <p:pic>
        <p:nvPicPr>
          <p:cNvPr id="5" name="Picture 4" descr="Снимок экрана — 2026-09-10 в 20.41.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3867150" y="234315"/>
            <a:ext cx="7713980" cy="6389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en-US"/>
              <a:t>Кэширование статических файлов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p>
            <a:pPr>
              <a:defRPr/>
            </a:pPr>
            <a:r>
              <a:rPr lang="en-US"/>
              <a:t>Браузер кэширует статические файлы — при повторном заходе не скачивает заново </a:t>
            </a:r>
            <a:endParaRPr lang="en-US"/>
          </a:p>
          <a:p>
            <a:pPr>
              <a:defRPr/>
            </a:pPr>
            <a:r>
              <a:rPr lang="en-US"/>
              <a:t>Настройка через заголовки в Program.cs</a:t>
            </a:r>
            <a:endParaRPr lang="en-US"/>
          </a:p>
          <a:p>
            <a:pPr>
              <a:defRPr/>
            </a:pPr>
            <a:r>
              <a:rPr lang="en-US"/>
              <a:t>max-age - время жизни кэша в секундах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Program.cs — кэширование на 7 дней:</a:t>
            </a:r>
            <a:endParaRPr lang="en-US"/>
          </a:p>
        </p:txBody>
      </p:sp>
      <p:pic>
        <p:nvPicPr>
          <p:cNvPr id="6" name="Picture 5" descr="Снимок экрана — 2026-09-10 в 20.42.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608400" y="3974433"/>
            <a:ext cx="6172200" cy="20701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 bwMode="auto">
          <a:xfrm>
            <a:off x="7054850" y="5139055"/>
            <a:ext cx="4522470" cy="82994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defRPr/>
            </a:pPr>
            <a:r>
              <a:rPr lang="en-US" sz="1600" b="0" i="0">
                <a:solidFill>
                  <a:schemeClr val="tx1"/>
                </a:solidFill>
                <a:latin typeface="YS Text"/>
                <a:ea typeface="YS Text"/>
              </a:rPr>
              <a:t>604800 </a:t>
            </a:r>
            <a:r>
              <a:rPr sz="1600" b="0" i="0">
                <a:solidFill>
                  <a:schemeClr val="tx1"/>
                </a:solidFill>
                <a:latin typeface="YS Text"/>
                <a:ea typeface="YS Text"/>
              </a:rPr>
              <a:t>секунд = 7 дней. Файлы кэшируются браузером и публичными прокси.</a:t>
            </a:r>
            <a:endParaRPr sz="1600" b="0" i="0">
              <a:solidFill>
                <a:schemeClr val="tx1"/>
              </a:solidFill>
              <a:latin typeface="YS Text"/>
              <a:ea typeface="YS Tex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 bwMode="auto"/>
        <p:txBody>
          <a:bodyPr/>
          <a:p>
            <a:pPr>
              <a:defRPr/>
            </a:pPr>
            <a:r>
              <a:rPr lang="ru-RU"/>
              <a:t>Практическая работа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Helvetica Neue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Geeza Pro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Geeza Pro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2849</Words>
  <Application>WPS Presentation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Wingdings</vt:lpstr>
      <vt:lpstr>Helvetica Neue</vt:lpstr>
      <vt:lpstr>Microsoft YaHei</vt:lpstr>
      <vt:lpstr>汉仪旗黑</vt:lpstr>
      <vt:lpstr>Arial Unicode MS</vt:lpstr>
      <vt:lpstr>Calibri</vt:lpstr>
      <vt:lpstr>YS Text</vt:lpstr>
      <vt:lpstr>Thonburi</vt:lpstr>
      <vt:lpstr>宋体-简</vt:lpstr>
      <vt:lpstr>WPS</vt:lpstr>
      <vt:lpstr>CSS и Bootstrap в ASP.NET Core</vt:lpstr>
      <vt:lpstr>Статические файлы и wwwroot</vt:lpstr>
      <vt:lpstr>PowerPoint 演示文稿</vt:lpstr>
      <vt:lpstr>Подключение CSS в представлении</vt:lpstr>
      <vt:lpstr>Bundling — объединение файлов</vt:lpstr>
      <vt:lpstr>Minification — минификация</vt:lpstr>
      <vt:lpstr>PowerPoint 演示文稿</vt:lpstr>
      <vt:lpstr>PowerPoint 演示文稿</vt:lpstr>
      <vt:lpstr>Environment Tag Helper — раздельные окружения</vt:lpstr>
      <vt:lpstr>Bootstrap — обзор</vt:lpstr>
      <vt:lpstr>Bootstrap Grid — сетка</vt:lpstr>
      <vt:lpstr>PowerPoint 演示文稿</vt:lpstr>
      <vt:lpstr>Bootstrap Components — ключевые компоненты</vt:lpstr>
      <vt:lpstr>PowerPoint 演示文稿</vt:lpstr>
      <vt:lpstr>Кэширование статических файлов</vt:lpstr>
      <vt:lpstr>Практическая работа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и Bootstrap в ASP.NET Core</dc:title>
  <dc:creator>oksanaroslova</dc:creator>
  <cp:lastModifiedBy>Oksana Roslova</cp:lastModifiedBy>
  <cp:revision>1</cp:revision>
  <dcterms:created xsi:type="dcterms:W3CDTF">2026-09-15T05:55:48Z</dcterms:created>
  <dcterms:modified xsi:type="dcterms:W3CDTF">2026-09-15T05:55:48Z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5FC3B049904EE4E7B0DDA86AFB011A06_41</vt:lpwstr>
  </property>
</Properties>
</file>