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2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Relationship Id="rId3" Type="http://schemas.openxmlformats.org/officeDocument/2006/relationships/image" Target="../media/image13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14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15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1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11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8.xml"/><Relationship Id="rId2" Type="http://schemas.openxmlformats.org/officeDocument/2006/relationships/image" Target="../media/image18.png"/><Relationship Id="rId1" Type="http://schemas.openxmlformats.org/officeDocument/2006/relationships/tags" Target="../tags/tag117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3" Type="http://schemas.openxmlformats.org/officeDocument/2006/relationships/image" Target="../media/image19.png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3.xml"/><Relationship Id="rId2" Type="http://schemas.openxmlformats.org/officeDocument/2006/relationships/image" Target="../media/image20.png"/><Relationship Id="rId1" Type="http://schemas.openxmlformats.org/officeDocument/2006/relationships/tags" Target="../tags/tag12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28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2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3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13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8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tags" Target="../tags/tag13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4.xml"/><Relationship Id="rId3" Type="http://schemas.openxmlformats.org/officeDocument/2006/relationships/image" Target="../media/image27.png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46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tags" Target="../tags/tag145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710690"/>
            <a:ext cx="9799200" cy="2570400"/>
          </a:xfrm>
        </p:spPr>
        <p:txBody>
          <a:bodyPr/>
          <a:p>
            <a:r>
              <a:rPr lang="en-US" altLang="en-US"/>
              <a:t>Razor Views и клиентская часть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Цели и задачи занятия</a:t>
            </a:r>
            <a:endParaRPr lang="ru-RU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Понять:</a:t>
            </a:r>
            <a:endParaRPr lang="ru-RU" altLang="en-US"/>
          </a:p>
          <a:p>
            <a:r>
              <a:rPr lang="en-US" altLang="en-US"/>
              <a:t>как Razor генерирует HTML на сервере</a:t>
            </a:r>
            <a:endParaRPr lang="en-US" altLang="en-US"/>
          </a:p>
          <a:p>
            <a:r>
              <a:rPr lang="en-US" altLang="en-US"/>
              <a:t>как View взаимодействует с контроллером и моделью</a:t>
            </a:r>
            <a:endParaRPr lang="en-US" altLang="en-US"/>
          </a:p>
          <a:p>
            <a:r>
              <a:rPr lang="en-US" altLang="en-US"/>
              <a:t>какие инструменты связывают серверную и клиентскую части.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Архитектура MVC и место View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Схема MVC: Model → Controller → View → Браузер</a:t>
            </a:r>
            <a:endParaRPr lang="en-US" altLang="en-US"/>
          </a:p>
          <a:p>
            <a:r>
              <a:rPr lang="en-US" altLang="en-US"/>
              <a:t>View — слой представления (presentation layer), отвечает за отображение данных в HTML.</a:t>
            </a:r>
            <a:endParaRPr lang="en-US" altLang="en-US"/>
          </a:p>
          <a:p>
            <a:r>
              <a:rPr lang="en-US" altLang="en-US"/>
              <a:t>Принцип разделения ответственностей:</a:t>
            </a:r>
            <a:endParaRPr lang="en-US" altLang="en-US"/>
          </a:p>
          <a:p>
            <a:pPr lvl="1"/>
            <a:r>
              <a:rPr lang="en-US" altLang="en-US"/>
              <a:t>Model — данные и бизнес-логика.</a:t>
            </a:r>
            <a:endParaRPr lang="en-US" altLang="en-US"/>
          </a:p>
          <a:p>
            <a:pPr lvl="1"/>
            <a:r>
              <a:rPr lang="en-US" altLang="en-US"/>
              <a:t>Controller — обработка запроса, вызов сервисов, выбор View.</a:t>
            </a:r>
            <a:endParaRPr lang="en-US" altLang="en-US"/>
          </a:p>
          <a:p>
            <a:pPr lvl="1"/>
            <a:r>
              <a:rPr lang="en-US" altLang="en-US"/>
              <a:t>View — только отображение, никакой бизнес-логики.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Ключевая идея</a:t>
            </a:r>
            <a:r>
              <a:rPr lang="en-US" altLang="en-US"/>
              <a:t>: контроллер готовит модель и передаёт её в View; View не знает, откуда пришли данные.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Снимок экрана — 2026-09-10 в 12.42.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561340"/>
            <a:ext cx="6678295" cy="48704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08025" y="5611495"/>
            <a:ext cx="10807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i="1">
                <a:latin typeface="Helvetica Neue Italic" panose="02000503000000020004" charset="0"/>
                <a:cs typeface="Helvetica Neue Italic" panose="02000503000000020004" charset="0"/>
              </a:rPr>
              <a:t>return View(product)</a:t>
            </a:r>
            <a:r>
              <a:rPr lang="en-US"/>
              <a:t> - </a:t>
            </a:r>
            <a:r>
              <a:rPr lang="ru-RU" altLang="en-US"/>
              <a:t>э</a:t>
            </a:r>
            <a:r>
              <a:rPr lang="en-US" altLang="en-US"/>
              <a:t>то момент передачи данных. View не обращается к базе напрямую; всё, что ему нужно, приходит через модель.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Что такое Razor: синтаксис и базовые конструкции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313940"/>
            <a:ext cx="10968990" cy="3935730"/>
          </a:xfrm>
        </p:spPr>
        <p:txBody>
          <a:bodyPr/>
          <a:p>
            <a:r>
              <a:rPr lang="en-US" altLang="en-US"/>
              <a:t>Razor — шаблонизатор от Microsoft для встраивания C# в HTML</a:t>
            </a:r>
            <a:endParaRPr lang="en-US" altLang="en-US"/>
          </a:p>
          <a:p>
            <a:r>
              <a:rPr lang="en-US" altLang="en-US"/>
              <a:t>Символ @ — переход от HTML к C</a:t>
            </a:r>
            <a:endParaRPr lang="en-US" altLang="en-US"/>
          </a:p>
          <a:p>
            <a:r>
              <a:rPr lang="en-US" altLang="en-US"/>
              <a:t>Не отдельный язык — это C# внутри разметки</a:t>
            </a:r>
            <a:endParaRPr lang="en-US" altLang="en-US"/>
          </a:p>
          <a:p>
            <a:r>
              <a:rPr lang="en-US" altLang="en-US"/>
              <a:t>Файлы имеют расширение .cshtml</a:t>
            </a:r>
            <a:endParaRPr lang="en-US" altLang="en-US"/>
          </a:p>
          <a:p>
            <a:r>
              <a:rPr lang="en-US" altLang="en-US"/>
              <a:t>Razor компилируется в C#-класс, наследуемый от  RazorPages&lt;T&gt;</a:t>
            </a:r>
            <a:endParaRPr lang="en-US" altLang="en-US"/>
          </a:p>
        </p:txBody>
      </p:sp>
      <p:pic>
        <p:nvPicPr>
          <p:cNvPr id="2" name="Picture 1" descr="Снимок экрана — 2026-09-10 в 18.56.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95" y="4873625"/>
            <a:ext cx="5664200" cy="7366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82015" y="59121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Результат в браузере:</a:t>
            </a:r>
            <a:r>
              <a:rPr lang="en-US" sz="1600" b="0" i="0">
                <a:solidFill>
                  <a:schemeClr val="tx1"/>
                </a:solidFill>
                <a:latin typeface="YS Text"/>
                <a:ea typeface="YS Text"/>
              </a:rPr>
              <a:t> </a:t>
            </a:r>
            <a:r>
              <a:rPr lang="ru-RU" altLang="en-US" sz="1600" b="0" i="0">
                <a:solidFill>
                  <a:schemeClr val="tx1"/>
                </a:solidFill>
                <a:latin typeface="YS Text"/>
                <a:ea typeface="YS Text"/>
              </a:rPr>
              <a:t>Время: 14</a:t>
            </a:r>
            <a:r>
              <a:rPr lang="en-US" altLang="ru-RU" sz="1600" b="0" i="0">
                <a:solidFill>
                  <a:schemeClr val="tx1"/>
                </a:solidFill>
                <a:latin typeface="YS Text"/>
                <a:ea typeface="YS Text"/>
              </a:rPr>
              <a:t>:</a:t>
            </a:r>
            <a:r>
              <a:rPr lang="ru-RU" altLang="en-US" sz="1600" b="0" i="0">
                <a:solidFill>
                  <a:schemeClr val="tx1"/>
                </a:solidFill>
                <a:latin typeface="YS Text"/>
                <a:ea typeface="YS Text"/>
              </a:rPr>
              <a:t>30</a:t>
            </a:r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 </a:t>
            </a: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Неявные и явные выражения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Неявные выражения —@ + одно слово/выражение без пробелов: @DateTime.Now, @user.Name</a:t>
            </a:r>
            <a:endParaRPr lang="en-US" altLang="en-US"/>
          </a:p>
          <a:p>
            <a:r>
              <a:rPr lang="en-US" altLang="en-US"/>
              <a:t>Явные выражения — @( ... ) для выражений с пробелами или спецсимволами</a:t>
            </a:r>
            <a:endParaRPr lang="en-US" altLang="en-US"/>
          </a:p>
          <a:p>
            <a:r>
              <a:rPr lang="en-US" altLang="en-US"/>
              <a:t>Экранирование @ - двойной @@: &lt;p&gt;@@Username&lt;/p&gt; -&gt; </a:t>
            </a:r>
            <a:r>
              <a:rPr lang="en-US" altLang="en-US">
                <a:sym typeface="+mn-ea"/>
              </a:rPr>
              <a:t>&lt;p&gt;@Username&lt;/p&gt;</a:t>
            </a:r>
            <a:endParaRPr lang="en-US" altLang="en-US"/>
          </a:p>
        </p:txBody>
      </p:sp>
      <p:pic>
        <p:nvPicPr>
          <p:cNvPr id="6" name="Picture 5" descr="Снимок экрана — 2026-09-10 в 19.01.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95" y="3619500"/>
            <a:ext cx="7277100" cy="1371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Блоки кода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Блок кода: @{ ... } - внутри выполняются C#-инструкции, результат не выводится напрямую</a:t>
            </a:r>
            <a:endParaRPr lang="en-US" altLang="en-US"/>
          </a:p>
          <a:p>
            <a:r>
              <a:rPr lang="en-US" altLang="en-US"/>
              <a:t>Переменные, объявленные в блоке, доступны в последующих выражениях того же представления</a:t>
            </a:r>
            <a:endParaRPr lang="en-US" altLang="en-US"/>
          </a:p>
          <a:p>
            <a:r>
              <a:rPr lang="en-US" altLang="en-US"/>
              <a:t>Каждая инструкция заканчивается ; (</a:t>
            </a:r>
            <a:r>
              <a:rPr lang="ru-RU" altLang="en-US"/>
              <a:t>точкой с запятой)</a:t>
            </a:r>
            <a:endParaRPr lang="ru-RU" altLang="en-US"/>
          </a:p>
          <a:p>
            <a:r>
              <a:rPr lang="en-US" altLang="en-US"/>
              <a:t>Внутри блока можно смешивать C# и HTML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Picture 5" descr="Снимок экрана — 2026-09-10 в 19.03.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5" y="4530725"/>
            <a:ext cx="6273800" cy="1468755"/>
          </a:xfrm>
          <a:prstGeom prst="rect">
            <a:avLst/>
          </a:prstGeom>
        </p:spPr>
      </p:pic>
      <p:pic>
        <p:nvPicPr>
          <p:cNvPr id="7" name="Picture 6" descr="Снимок экрана — 2026-09-10 в 19.03.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695" y="4090670"/>
            <a:ext cx="4064000" cy="2159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Условные операторы</a:t>
            </a:r>
            <a:endParaRPr lang="ru-RU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@if, @else if, @else - </a:t>
            </a:r>
            <a:r>
              <a:rPr lang="en-US" altLang="en-US"/>
              <a:t>стандартный синтаксис C# с префиксом @</a:t>
            </a:r>
            <a:endParaRPr lang="en-US" altLang="en-US"/>
          </a:p>
          <a:p>
            <a:r>
              <a:rPr lang="en-US" altLang="en-US"/>
              <a:t>@switch - аналогично</a:t>
            </a:r>
            <a:endParaRPr lang="en-US" altLang="en-US"/>
          </a:p>
          <a:p>
            <a:r>
              <a:rPr lang="en-US" altLang="en-US"/>
              <a:t>Внутри блоков можно свободно писать HTML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10 в 19.05.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" y="2915285"/>
            <a:ext cx="4041140" cy="3723640"/>
          </a:xfrm>
          <a:prstGeom prst="rect">
            <a:avLst/>
          </a:prstGeom>
        </p:spPr>
      </p:pic>
      <p:pic>
        <p:nvPicPr>
          <p:cNvPr id="7" name="Picture 6" descr="Снимок экрана — 2026-09-10 в 19.06.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465" y="2915285"/>
            <a:ext cx="4583430" cy="37992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Циклы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Поддерживаются @for, @foreach, @while,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@do while </a:t>
            </a:r>
            <a:endParaRPr lang="en-US" altLang="en-US"/>
          </a:p>
          <a:p>
            <a:r>
              <a:rPr lang="en-US" altLang="en-US"/>
              <a:t>Синтаксис — @ + ключевое слово цикла,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тело в { }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Picture 5" descr="Снимок экрана — 2026-09-10 в 19.07.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95" y="1160780"/>
            <a:ext cx="5530850" cy="5344795"/>
          </a:xfrm>
          <a:prstGeom prst="rect">
            <a:avLst/>
          </a:prstGeom>
        </p:spPr>
      </p:pic>
      <p:pic>
        <p:nvPicPr>
          <p:cNvPr id="7" name="Picture 6" descr="Снимок экрана — 2026-09-10 в 19.08.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60" y="3840480"/>
            <a:ext cx="4583430" cy="20053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@functions — функции в представлении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@functions - объявление методов и свойств внутри представления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Методы доступны по всему представлению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В отличие от локальных функций в @{ }, @functions создаются на уровне класса</a:t>
            </a:r>
            <a:endParaRPr lang="en-US" altLang="en-US">
              <a:sym typeface="+mn-ea"/>
            </a:endParaRPr>
          </a:p>
        </p:txBody>
      </p:sp>
      <p:pic>
        <p:nvPicPr>
          <p:cNvPr id="6" name="Picture 5" descr="Снимок экрана — 2026-09-10 в 19.10.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" y="2985770"/>
            <a:ext cx="6352540" cy="36607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489190" y="380238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Результат: 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</p:txBody>
      </p:sp>
      <p:pic>
        <p:nvPicPr>
          <p:cNvPr id="8" name="Picture 7" descr="Снимок экрана — 2026-09-10 в 19.11.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05" y="4406900"/>
            <a:ext cx="5422900" cy="3175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Локальные функции в блоках кода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Внутри</a:t>
            </a:r>
            <a:r>
              <a:rPr lang="ru-RU" altLang="en-US"/>
              <a:t> </a:t>
            </a:r>
            <a:r>
              <a:rPr lang="en-US" altLang="ru-RU"/>
              <a:t>@{ } </a:t>
            </a:r>
            <a:r>
              <a:rPr lang="en-US" altLang="en-US"/>
              <a:t>можно объявлять локальные функции</a:t>
            </a:r>
            <a:endParaRPr lang="en-US" altLang="en-US"/>
          </a:p>
          <a:p>
            <a:r>
              <a:rPr lang="en-US" altLang="en-US"/>
              <a:t>Удобны для создания переиспользуемых шаблонов разметки</a:t>
            </a:r>
            <a:endParaRPr lang="en-US" altLang="en-US"/>
          </a:p>
          <a:p>
            <a:r>
              <a:rPr lang="en-US" altLang="en-US"/>
              <a:t>Без модификаторов доступа (public, private)</a:t>
            </a:r>
            <a:endParaRPr lang="en-US" altLang="en-US"/>
          </a:p>
          <a:p>
            <a:r>
              <a:rPr lang="en-US" altLang="en-US"/>
              <a:t>Могут возвращать значения или быть void</a:t>
            </a:r>
            <a:endParaRPr lang="en-US" altLang="en-US"/>
          </a:p>
        </p:txBody>
      </p:sp>
      <p:pic>
        <p:nvPicPr>
          <p:cNvPr id="6" name="Picture 5" descr="Снимок экрана — 2026-09-10 в 19.12.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695" y="2421255"/>
            <a:ext cx="5181600" cy="431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@helper — шаблонные делегаты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В классическом ASP.NET MVC был@helper для создания переиспользуемых шаблонов </a:t>
            </a:r>
            <a:endParaRPr lang="en-US" altLang="en-US"/>
          </a:p>
          <a:p>
            <a:r>
              <a:rPr lang="en-US" altLang="en-US"/>
              <a:t>В ASP.NET Core вместо @helper используются:</a:t>
            </a:r>
            <a:endParaRPr lang="en-US" altLang="en-US"/>
          </a:p>
          <a:p>
            <a:pPr lvl="1"/>
            <a:r>
              <a:rPr lang="en-US" altLang="en-US"/>
              <a:t>локальные функции</a:t>
            </a:r>
            <a:endParaRPr lang="en-US" altLang="en-US"/>
          </a:p>
          <a:p>
            <a:pPr lvl="1"/>
            <a:r>
              <a:rPr lang="en-US" altLang="en-US"/>
              <a:t>шаблонные делегаты через Func&lt;T, IHtmlContent&gt;</a:t>
            </a:r>
            <a:endParaRPr lang="en-US" altLang="en-US"/>
          </a:p>
          <a:p>
            <a:pPr lvl="1"/>
            <a:r>
              <a:rPr lang="en-US" altLang="en-US"/>
              <a:t>Tag Helpers и Partial Views (для более сложных случаев)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Пример шаблонного делегата (замена @helper):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766445" y="1261110"/>
            <a:ext cx="6020435" cy="548322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 anchor="t">
            <a:noAutofit/>
          </a:bodyPr>
          <a:p>
            <a:r>
              <a:rPr lang="en-US" altLang="en-US">
                <a:solidFill>
                  <a:schemeClr val="bg1"/>
                </a:solidFill>
              </a:rPr>
              <a:t>@using Microsoft.AspNetCore.Html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@{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Func&lt;dynamic, IHtmlContent&gt; userBadge = @&lt;span class="badge"&gt;@item.Name — @item.Role&lt;/span&gt;;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}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@{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var users = new[]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{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    new { Name = "Анна", Role = "Admin" },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    new { Name = "Борис", Role = "User" }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};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}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@foreach (var u in users)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{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@userBadge(u)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   &lt;br /&gt;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}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Директивы Razor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@using - </a:t>
            </a:r>
            <a:r>
              <a:rPr lang="en-US" altLang="en-US"/>
              <a:t>подключение пространств имён</a:t>
            </a:r>
            <a:endParaRPr lang="en-US" altLang="en-US"/>
          </a:p>
          <a:p>
            <a:r>
              <a:rPr lang="en-US"/>
              <a:t>@model - </a:t>
            </a:r>
            <a:r>
              <a:rPr lang="en-US" altLang="en-US"/>
              <a:t>тип модели, переданной в представление</a:t>
            </a:r>
            <a:endParaRPr lang="en-US" altLang="en-US"/>
          </a:p>
          <a:p>
            <a:r>
              <a:rPr lang="en-US"/>
              <a:t>@inject - </a:t>
            </a:r>
            <a:r>
              <a:rPr lang="en-US" altLang="en-US"/>
              <a:t>внедрение сервиса из DI-контейнера в представление</a:t>
            </a:r>
            <a:endParaRPr lang="en-US" altLang="en-US"/>
          </a:p>
          <a:p>
            <a:r>
              <a:rPr lang="en-US"/>
              <a:t>@page - </a:t>
            </a:r>
            <a:r>
              <a:rPr lang="en-US" altLang="en-US"/>
              <a:t>делает файл Razor Page (маршрутизируемым)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Picture 5" descr="Снимок экрана — 2026-09-10 в 19.18.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985" y="3429000"/>
            <a:ext cx="4762500" cy="3136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Комментарии в Razor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Razor-комментарии: @* ... *@— не попадают в итоговый HTML</a:t>
            </a:r>
            <a:endParaRPr lang="en-US" altLang="en-US"/>
          </a:p>
          <a:p>
            <a:r>
              <a:rPr lang="en-US" altLang="en-US"/>
              <a:t>HTML-комментарии: &lt;!-- ... --&gt; — попадают в ответ клиенту</a:t>
            </a:r>
            <a:endParaRPr lang="en-US" altLang="en-US"/>
          </a:p>
          <a:p>
            <a:r>
              <a:rPr lang="en-US" altLang="en-US"/>
              <a:t>C#-комментарии внутри @{ }: // </a:t>
            </a:r>
            <a:r>
              <a:rPr lang="ru-RU" altLang="en-US"/>
              <a:t>и </a:t>
            </a:r>
            <a:r>
              <a:rPr lang="en-US" altLang="ru-RU"/>
              <a:t>/* */</a:t>
            </a:r>
            <a:endParaRPr lang="en-US" altLang="ru-RU"/>
          </a:p>
        </p:txBody>
      </p:sp>
      <p:pic>
        <p:nvPicPr>
          <p:cNvPr id="6" name="Picture 5" descr="Снимок экрана — 2026-09-10 в 19.20.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3213735"/>
            <a:ext cx="4914900" cy="2578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Layouts, Sections, ViewStart, ViewImports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Проблема: повторяющийся код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Без layout каждый View содержит полный HTML: &lt;!DOCTYPE&gt;, &lt;head&gt;, &lt;body&gt;</a:t>
            </a:r>
            <a:endParaRPr lang="en-US" altLang="en-US"/>
          </a:p>
          <a:p>
            <a:r>
              <a:rPr lang="en-US" altLang="en-US"/>
              <a:t>Шапка, меню, футер, подключение скриптов повторяются на каждой странице</a:t>
            </a:r>
            <a:endParaRPr lang="en-US" altLang="en-US"/>
          </a:p>
          <a:p>
            <a:r>
              <a:rPr lang="en-US" altLang="en-US"/>
              <a:t>Layout решает эту проблему — общий каркас выносится в отдельный файл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Без layout -&gt; плохо. </a:t>
            </a:r>
            <a:r>
              <a:rPr lang="ru-RU" altLang="en-US"/>
              <a:t>В примере </a:t>
            </a:r>
            <a:r>
              <a:rPr lang="en-US" altLang="en-US"/>
              <a:t>→ При изменении меню нужно править каждую страницу.</a:t>
            </a:r>
            <a:endParaRPr lang="en-US" altLang="en-US"/>
          </a:p>
        </p:txBody>
      </p:sp>
      <p:pic>
        <p:nvPicPr>
          <p:cNvPr id="6" name="Picture 5" descr="Снимок экрана — 2026-09-10 в 19.23.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985" y="3429000"/>
            <a:ext cx="8280400" cy="3213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Layout — мастер-страница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Layout — общий шаблон (каркас) для группы представлений </a:t>
            </a:r>
            <a:endParaRPr lang="en-US" altLang="en-US"/>
          </a:p>
          <a:p>
            <a:r>
              <a:rPr lang="en-US" altLang="en-US"/>
              <a:t>Располагается обычно в</a:t>
            </a:r>
            <a:r>
              <a:rPr lang="ru-RU" altLang="en-US"/>
              <a:t> </a:t>
            </a:r>
            <a:r>
              <a:rPr lang="en-US" altLang="ru-RU"/>
              <a:t>View/Shared/_Layout.cshtml</a:t>
            </a:r>
            <a:endParaRPr lang="en-US" altLang="ru-RU"/>
          </a:p>
          <a:p>
            <a:r>
              <a:rPr lang="en-US" altLang="ru-RU"/>
              <a:t>@RenderBody - </a:t>
            </a:r>
            <a:r>
              <a:rPr lang="en-US" altLang="en-US"/>
              <a:t>место, куда вставляется содержимое конкретного представления</a:t>
            </a:r>
            <a:endParaRPr lang="en-US" altLang="en-US"/>
          </a:p>
          <a:p>
            <a:r>
              <a:rPr lang="en-US" altLang="en-US"/>
              <a:t>Представление указывает layout через свойство Layout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369570"/>
            <a:ext cx="10972800" cy="5887085"/>
          </a:xfrm>
        </p:spPr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_Layout.cshtml: 						About.cshtml:</a:t>
            </a:r>
            <a:endParaRPr lang="en-US" altLang="en-US">
              <a:sym typeface="+mn-ea"/>
            </a:endParaRPr>
          </a:p>
        </p:txBody>
      </p:sp>
      <p:pic>
        <p:nvPicPr>
          <p:cNvPr id="5" name="Picture 4" descr="Снимок экрана — 2026-09-10 в 19.31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" y="957580"/>
            <a:ext cx="5815330" cy="5671820"/>
          </a:xfrm>
          <a:prstGeom prst="rect">
            <a:avLst/>
          </a:prstGeom>
        </p:spPr>
      </p:pic>
      <p:pic>
        <p:nvPicPr>
          <p:cNvPr id="6" name="Picture 5" descr="Снимок экрана — 2026-09-10 в 19.31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660" y="1320800"/>
            <a:ext cx="4152900" cy="2108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Иерархия layout-ов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Layout может сам ссылаться на другой layout — образуется иерархия</a:t>
            </a:r>
            <a:endParaRPr lang="en-US" altLang="en-US"/>
          </a:p>
          <a:p>
            <a:r>
              <a:rPr lang="en-US" altLang="en-US"/>
              <a:t>Поиск layout по путям:</a:t>
            </a:r>
            <a:endParaRPr lang="en-US" altLang="en-US"/>
          </a:p>
          <a:p>
            <a:pPr lvl="1"/>
            <a:r>
              <a:rPr lang="en-US" altLang="en-US"/>
              <a:t>/View/[</a:t>
            </a:r>
            <a:r>
              <a:rPr lang="ru-RU" altLang="en-US"/>
              <a:t>Контроллер</a:t>
            </a:r>
            <a:r>
              <a:rPr lang="en-US" altLang="ru-RU"/>
              <a:t>]/_Layout.cshtml</a:t>
            </a:r>
            <a:endParaRPr lang="en-US" altLang="ru-RU"/>
          </a:p>
          <a:p>
            <a:pPr lvl="1"/>
            <a:r>
              <a:rPr lang="en-US" altLang="en-US">
                <a:sym typeface="+mn-ea"/>
              </a:rPr>
              <a:t>/View/</a:t>
            </a:r>
            <a:r>
              <a:rPr lang="en-US" altLang="ru-RU">
                <a:sym typeface="+mn-ea"/>
              </a:rPr>
              <a:t>Shared</a:t>
            </a:r>
            <a:r>
              <a:rPr lang="en-US" altLang="ru-RU">
                <a:sym typeface="+mn-ea"/>
              </a:rPr>
              <a:t>/_Layout.cshtml</a:t>
            </a:r>
            <a:endParaRPr lang="en-US" altLang="ru-RU">
              <a:sym typeface="+mn-ea"/>
            </a:endParaRPr>
          </a:p>
          <a:p>
            <a:pPr lvl="0"/>
            <a:r>
              <a:rPr lang="en-US" altLang="en-US">
                <a:sym typeface="+mn-ea"/>
              </a:rPr>
              <a:t>Более близкий файл приоритетнее</a:t>
            </a:r>
            <a:endParaRPr lang="en-US" altLang="en-US">
              <a:sym typeface="+mn-ea"/>
            </a:endParaRPr>
          </a:p>
          <a:p>
            <a:pPr lvl="0"/>
            <a:r>
              <a:rPr lang="ru-RU" altLang="en-US" sz="1800">
                <a:sym typeface="+mn-ea"/>
              </a:rPr>
              <a:t>Схема:</a:t>
            </a:r>
            <a:endParaRPr lang="en-US" altLang="ru-RU" sz="1800">
              <a:sym typeface="+mn-ea"/>
            </a:endParaRPr>
          </a:p>
          <a:p>
            <a:pPr marL="0" lvl="0" indent="0">
              <a:buNone/>
            </a:pPr>
            <a:r>
              <a:rPr lang="en-US" altLang="en-US" sz="1800">
                <a:sym typeface="+mn-ea"/>
              </a:rPr>
              <a:t>_Layout.cshtml (базовый каркас)</a:t>
            </a:r>
            <a:endParaRPr lang="en-US" altLang="en-US" sz="1800">
              <a:sym typeface="+mn-ea"/>
            </a:endParaRPr>
          </a:p>
          <a:p>
            <a:pPr marL="0" lvl="0" indent="0">
              <a:buNone/>
            </a:pPr>
            <a:r>
              <a:rPr lang="en-US" altLang="en-US" sz="1800">
                <a:sym typeface="+mn-ea"/>
              </a:rPr>
              <a:t>  └── _LayoutAdmin.cshtml (админ-панель, вкладывается в базовый)</a:t>
            </a:r>
            <a:endParaRPr lang="en-US" altLang="en-US" sz="1800">
              <a:sym typeface="+mn-ea"/>
            </a:endParaRPr>
          </a:p>
          <a:p>
            <a:pPr marL="0" lvl="0" indent="0">
              <a:buNone/>
            </a:pPr>
            <a:r>
              <a:rPr lang="en-US" altLang="en-US" sz="1800">
                <a:sym typeface="+mn-ea"/>
              </a:rPr>
              <a:t>        └── Admin/Dashboard.cshtml (конкретная страница)</a:t>
            </a:r>
            <a:endParaRPr lang="en-US" altLang="en-US" sz="1800">
              <a:sym typeface="+mn-ea"/>
            </a:endParaRPr>
          </a:p>
          <a:p>
            <a:pPr marL="0" lvl="0" indent="0">
              <a:buNone/>
            </a:pPr>
            <a:endParaRPr lang="en-US" altLang="en-US" sz="1800">
              <a:sym typeface="+mn-ea"/>
            </a:endParaRPr>
          </a:p>
          <a:p>
            <a:pPr lvl="1"/>
            <a:endParaRPr lang="en-US" altLang="ru-RU"/>
          </a:p>
          <a:p>
            <a:pPr lvl="1"/>
            <a:endParaRPr lang="en-US" altLang="ru-RU"/>
          </a:p>
          <a:p>
            <a:pPr lvl="1"/>
            <a:endParaRPr lang="en-US" altLang="ru-RU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_LayoutAdmin.cshtml: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0 в 19.35.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603375"/>
            <a:ext cx="6464300" cy="2120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_ViewStart.cshtml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/>
              <a:t>Код </a:t>
            </a:r>
            <a:r>
              <a:rPr lang="ru-RU" altLang="en-US"/>
              <a:t>_</a:t>
            </a:r>
            <a:r>
              <a:rPr lang="en-US" altLang="ru-RU"/>
              <a:t>ViewStart.cshtml </a:t>
            </a:r>
            <a:r>
              <a:rPr lang="en-US" altLang="en-US"/>
              <a:t>выполняется </a:t>
            </a: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до</a:t>
            </a:r>
            <a:r>
              <a:rPr lang="en-US" altLang="en-US"/>
              <a:t> кода каждого представления в той же папке </a:t>
            </a:r>
            <a:endParaRPr lang="en-US" altLang="en-US"/>
          </a:p>
          <a:p>
            <a:r>
              <a:rPr lang="en-US" altLang="en-US"/>
              <a:t>Убирает необходимость вручную указывать Layout в каждом View</a:t>
            </a:r>
            <a:endParaRPr lang="en-US" altLang="en-US"/>
          </a:p>
          <a:p>
            <a:r>
              <a:rPr lang="en-US" altLang="en-US"/>
              <a:t>Помещается в папку View (или подпапку)</a:t>
            </a:r>
            <a:endParaRPr lang="en-US" altLang="en-US"/>
          </a:p>
          <a:p>
            <a:r>
              <a:rPr lang="en-US" altLang="en-US"/>
              <a:t>Иерархический: ближайший к представлению _ViewStart приоритетнее</a:t>
            </a:r>
            <a:endParaRPr lang="en-US" altLang="en-US"/>
          </a:p>
          <a:p>
            <a:r>
              <a:rPr lang="en-US" altLang="en-US"/>
              <a:t>Views/_ViewStart.cshtml: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Теперь в About.cshtml не нужно писать Layout = "_Layout — это подставится автоматически.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10 в 19.38.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95" y="3885565"/>
            <a:ext cx="3149600" cy="977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Динамический выбор layout: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0 в 19.39.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" y="1463675"/>
            <a:ext cx="3835400" cy="177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 _ViewImports.cshtml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 _ViewImports.cshtml - общие директивы для всех представлений в папке</a:t>
            </a:r>
            <a:endParaRPr lang="en-US" altLang="en-US"/>
          </a:p>
          <a:p>
            <a:r>
              <a:rPr lang="en-US" altLang="en-US"/>
              <a:t>Помещается в View/ — директивы применяются ко всем View</a:t>
            </a:r>
            <a:endParaRPr lang="en-US" altLang="en-US"/>
          </a:p>
          <a:p>
            <a:r>
              <a:rPr lang="en-US" altLang="en-US"/>
              <a:t>Иерархический: настройки из подпапки переопределяют настройки из родительской </a:t>
            </a:r>
            <a:endParaRPr lang="en-US" altLang="en-US"/>
          </a:p>
          <a:p>
            <a:r>
              <a:rPr lang="en-US" altLang="en-US"/>
              <a:t>Типичное содержимое: @using, @model, @addTagHelper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Views/_ViewImports.cshtml: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Раньше в каждом View пришлось бы писать: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Теперь @using MyProject.Models доступен везде автоматически.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0 в 19.41.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1262380"/>
            <a:ext cx="5867400" cy="914400"/>
          </a:xfrm>
          <a:prstGeom prst="rect">
            <a:avLst/>
          </a:prstGeom>
        </p:spPr>
      </p:pic>
      <p:pic>
        <p:nvPicPr>
          <p:cNvPr id="6" name="Picture 5" descr="Снимок экрана — 2026-09-10 в 19.41.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" y="2781300"/>
            <a:ext cx="2755900" cy="647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Sections — именованные секции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@RenderBody - </a:t>
            </a:r>
            <a:r>
              <a:rPr lang="en-US" altLang="en-US"/>
              <a:t>обязательная, выводит основное содержимое </a:t>
            </a:r>
            <a:endParaRPr lang="en-US" altLang="en-US"/>
          </a:p>
          <a:p>
            <a:r>
              <a:rPr lang="en-US" altLang="en-US"/>
              <a:t>@RenderSection("Name") - выводит именованную секцию из представления</a:t>
            </a:r>
            <a:endParaRPr lang="en-US" altLang="en-US"/>
          </a:p>
          <a:p>
            <a:r>
              <a:rPr lang="en-US" altLang="en-US"/>
              <a:t>По умолчанию секция </a:t>
            </a: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обязательна </a:t>
            </a:r>
            <a:r>
              <a:rPr lang="en-US" altLang="en-US"/>
              <a:t>— представление должно её определить</a:t>
            </a:r>
            <a:endParaRPr lang="en-US" altLang="en-US"/>
          </a:p>
          <a:p>
            <a:r>
              <a:rPr lang="en-US" altLang="en-US">
                <a:sym typeface="+mn-ea"/>
              </a:rPr>
              <a:t>@RenderSection("Name", required: false) - необязательная секция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IsSectionDefined("Name") - проверка, определена ли секция</a:t>
            </a:r>
            <a:endParaRPr lang="en-US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242570"/>
            <a:ext cx="10972800" cy="6014085"/>
          </a:xfrm>
        </p:spPr>
        <p:txBody>
          <a:bodyPr/>
          <a:p>
            <a:pPr marL="0" indent="0">
              <a:buNone/>
            </a:pPr>
            <a:r>
              <a:rPr lang="en-US" altLang="en-US"/>
              <a:t>_Layout.cshtml:					Index.cshtml:</a:t>
            </a:r>
            <a:endParaRPr lang="en-US" altLang="en-US"/>
          </a:p>
        </p:txBody>
      </p:sp>
      <p:pic>
        <p:nvPicPr>
          <p:cNvPr id="5" name="Picture 4" descr="Снимок экрана — 2026-09-10 в 19.46.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" y="971550"/>
            <a:ext cx="5410200" cy="4914900"/>
          </a:xfrm>
          <a:prstGeom prst="rect">
            <a:avLst/>
          </a:prstGeom>
        </p:spPr>
      </p:pic>
      <p:pic>
        <p:nvPicPr>
          <p:cNvPr id="6" name="Picture 5" descr="Снимок экрана — 2026-09-10 в 19.46.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065" y="971550"/>
            <a:ext cx="5829300" cy="2641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Partial Views — переиспользуемые фрагменты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Partial View — фрагмент Razor-разметки для повторного использования </a:t>
            </a:r>
            <a:endParaRPr lang="en-US" altLang="en-US"/>
          </a:p>
          <a:p>
            <a:r>
              <a:rPr lang="en-US" altLang="en-US"/>
              <a:t>Не имеет своего контроллера — получает данные от родительского View</a:t>
            </a:r>
            <a:endParaRPr lang="en-US" altLang="en-US"/>
          </a:p>
          <a:p>
            <a:r>
              <a:rPr lang="en-US" altLang="en-US"/>
              <a:t>Не содержит @page и не имеет layout</a:t>
            </a:r>
            <a:endParaRPr lang="en-US" altLang="en-US"/>
          </a:p>
          <a:p>
            <a:r>
              <a:rPr lang="en-US" altLang="en-US"/>
              <a:t>Обычно располагается в ViewShared/ </a:t>
            </a:r>
            <a:r>
              <a:rPr lang="ru-RU" altLang="en-US"/>
              <a:t>или </a:t>
            </a:r>
            <a:r>
              <a:rPr lang="en-US" altLang="ru-RU"/>
              <a:t>View/[Controller]/</a:t>
            </a:r>
            <a:endParaRPr lang="en-US" altLang="ru-RU"/>
          </a:p>
          <a:p>
            <a:r>
              <a:rPr lang="en-US" altLang="en-US"/>
              <a:t>Имя по договорённости начинается с _ (например, _LoginPartial.cshtml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584835"/>
            <a:ext cx="10972800" cy="5671820"/>
          </a:xfrm>
        </p:spPr>
        <p:txBody>
          <a:bodyPr/>
          <a:p>
            <a:pPr marL="0" indent="0">
              <a:buNone/>
            </a:pPr>
            <a:r>
              <a:rPr lang="en-US" altLang="en-US"/>
              <a:t>_ProductCard.cshtml: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Использование в Index.cshtml:</a:t>
            </a:r>
            <a:endParaRPr lang="en-US" altLang="en-US"/>
          </a:p>
        </p:txBody>
      </p:sp>
      <p:pic>
        <p:nvPicPr>
          <p:cNvPr id="5" name="Picture 4" descr="Снимок экрана — 2026-09-10 в 19.49.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045" y="584835"/>
            <a:ext cx="3632200" cy="2032000"/>
          </a:xfrm>
          <a:prstGeom prst="rect">
            <a:avLst/>
          </a:prstGeom>
        </p:spPr>
      </p:pic>
      <p:pic>
        <p:nvPicPr>
          <p:cNvPr id="6" name="Picture 5" descr="Снимок экрана — 2026-09-10 в 19.51.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505" y="3543300"/>
            <a:ext cx="6438900" cy="2362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ViewComponents — когда partial мало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/>
              <a:t>ViewComponent — «мини-контроллер»: объединяет C#-логику и представление </a:t>
            </a:r>
            <a:endParaRPr lang="en-US" altLang="en-US"/>
          </a:p>
          <a:p>
            <a:r>
              <a:rPr lang="en-US" altLang="en-US"/>
              <a:t>Имеет собственную логику получения данных — не зависит от родительского контроллера</a:t>
            </a:r>
            <a:endParaRPr lang="en-US" altLang="en-US"/>
          </a:p>
          <a:p>
            <a:r>
              <a:rPr lang="en-US" altLang="en-US"/>
              <a:t>Поддерживает dependency injection (DI)</a:t>
            </a:r>
            <a:endParaRPr lang="en-US" altLang="en-US"/>
          </a:p>
          <a:p>
            <a:r>
              <a:rPr lang="en-US" altLang="en-US"/>
              <a:t>Не участвует в маршрутизации — вызывается из представления</a:t>
            </a:r>
            <a:endParaRPr lang="en-US" altLang="en-US"/>
          </a:p>
          <a:p>
            <a:r>
              <a:rPr lang="en-US" altLang="en-US"/>
              <a:t>Состоит из двух частей: класс (наследник ViewComponent) + Razor-представление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u="sng"/>
              <a:t>Когда partial view не хватает:</a:t>
            </a:r>
            <a:endParaRPr lang="en-US" altLang="en-US" u="sng"/>
          </a:p>
          <a:p>
            <a:r>
              <a:rPr lang="en-US" altLang="en-US"/>
              <a:t>Нужны данные, которых нет в модели родительского View</a:t>
            </a:r>
            <a:endParaRPr lang="en-US" altLang="en-US"/>
          </a:p>
          <a:p>
            <a:r>
              <a:rPr lang="en-US" altLang="en-US"/>
              <a:t>Нужна бизнес-логика (запрос к БД, сервису)</a:t>
            </a:r>
            <a:endParaRPr lang="en-US" altLang="en-US"/>
          </a:p>
          <a:p>
            <a:r>
              <a:rPr lang="en-US" altLang="en-US"/>
              <a:t>Нужна тестируемость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ViewComponent — пример кода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CartSummaryViewComponent.cs:</a:t>
            </a:r>
            <a:endParaRPr lang="en-US" altLang="en-US"/>
          </a:p>
        </p:txBody>
      </p:sp>
      <p:pic>
        <p:nvPicPr>
          <p:cNvPr id="6" name="Picture 5" descr="Снимок экрана — 2026-09-10 в 19.55.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957070"/>
            <a:ext cx="7086600" cy="42926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336155" y="1957070"/>
            <a:ext cx="48558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Класс наследуется от ViewComponent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Метод Invoke </a:t>
            </a:r>
            <a:r>
              <a:rPr lang="ru-RU" altLang="en-US"/>
              <a:t>или </a:t>
            </a:r>
            <a:r>
              <a:rPr lang="en-US" altLang="ru-RU"/>
              <a:t>InvokeAsync - </a:t>
            </a:r>
            <a:r>
              <a:rPr lang="en-US" altLang="en-US"/>
              <a:t>точка входа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Views/Shared/Components/CartSummary/Default.cshtml: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Использование в _Layout.cshtml: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0 в 19.57.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339850"/>
            <a:ext cx="5334635" cy="1738630"/>
          </a:xfrm>
          <a:prstGeom prst="rect">
            <a:avLst/>
          </a:prstGeom>
        </p:spPr>
      </p:pic>
      <p:pic>
        <p:nvPicPr>
          <p:cNvPr id="6" name="Picture 5" descr="Снимок экрана — 2026-09-10 в 19.59.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3948430"/>
            <a:ext cx="5397500" cy="1257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259830" y="4622165"/>
            <a:ext cx="548513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Вызов из View:</a:t>
            </a:r>
            <a:r>
              <a:rPr lang="en-US" sz="1600" b="0" i="0">
                <a:solidFill>
                  <a:schemeClr val="tx1"/>
                </a:solidFill>
                <a:latin typeface="YS Text"/>
                <a:ea typeface="YS Text"/>
              </a:rPr>
              <a:t> @await Component.InvokeAsync("CartSummary")</a:t>
            </a:r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 </a:t>
            </a: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  <a:p>
            <a:pPr marL="0" indent="0"/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  <a:p>
            <a:pPr marL="0" indent="0"/>
            <a:r>
              <a:rPr lang="en-US" altLang="en-US" sz="1600" b="0" i="0">
                <a:solidFill>
                  <a:schemeClr val="tx1"/>
                </a:solidFill>
                <a:latin typeface="YS Text"/>
                <a:ea typeface="YS Text"/>
              </a:rPr>
              <a:t>Суффикс ViewComponent в имени класса отбрасывается автоматически</a:t>
            </a:r>
            <a:endParaRPr lang="en-US" altLang="en-US" sz="1600" b="0" i="0">
              <a:solidFill>
                <a:schemeClr val="tx1"/>
              </a:solidFill>
              <a:latin typeface="YS Text"/>
              <a:ea typeface="YS Tex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Сравнение Partial View vs ViewComponent</a:t>
            </a:r>
            <a:endParaRPr lang="en-US" altLang="en-US"/>
          </a:p>
        </p:txBody>
      </p:sp>
      <p:graphicFrame>
        <p:nvGraphicFramePr>
          <p:cNvPr id="8" name="Content Placeholder 7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805"/>
                <a:gridCol w="4631690"/>
                <a:gridCol w="4214495"/>
              </a:tblGrid>
              <a:tr h="381000"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bg1"/>
                          </a:solidFill>
                          <a:latin typeface="YS Text"/>
                          <a:ea typeface="YS Text"/>
                        </a:rPr>
                        <a:t>Параметр</a:t>
                      </a:r>
                      <a:endParaRPr sz="1600" b="0">
                        <a:solidFill>
                          <a:schemeClr val="bg1"/>
                        </a:solidFill>
                        <a:latin typeface="YS Text"/>
                        <a:ea typeface="YS Text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bg1"/>
                          </a:solidFill>
                          <a:latin typeface="YS Text"/>
                          <a:ea typeface="YS Text"/>
                        </a:rPr>
                        <a:t>Partial View</a:t>
                      </a:r>
                      <a:endParaRPr sz="1600" b="0">
                        <a:solidFill>
                          <a:schemeClr val="bg1"/>
                        </a:solidFill>
                        <a:latin typeface="YS Text"/>
                        <a:ea typeface="YS Text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bg1"/>
                          </a:solidFill>
                          <a:latin typeface="YS Text"/>
                          <a:ea typeface="YS Text"/>
                        </a:rPr>
                        <a:t>ViewComponent</a:t>
                      </a:r>
                      <a:endParaRPr sz="1600" b="0">
                        <a:solidFill>
                          <a:schemeClr val="bg1"/>
                        </a:solidFill>
                        <a:latin typeface="YS Text"/>
                        <a:ea typeface="YS Text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Логика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Нет — данные из родительского View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Есть — собственный C#-класс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Данные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Из ViewData, ViewBag, Model родителя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Независимо — сам получает через DI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Тестируемость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Сложно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Да, можно unit-тестировать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Производительность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Быстрее (нет логики)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Чуть тяжелее, но незначительно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Когда использовать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Переиспользуемая разметка, данные уже есть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YS Text"/>
                          <a:cs typeface="Times New Roman Regular" panose="02020503050405090304" charset="0"/>
                        </a:rPr>
                        <a:t>Виджет с собственной логикой данных</a:t>
                      </a:r>
                      <a:endParaRPr sz="16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YS Text"/>
                        <a:cs typeface="Times New Roman Regular" panose="02020503050405090304" charset="0"/>
                      </a:endParaRPr>
                    </a:p>
                  </a:txBody>
                  <a:tcPr marL="305117" marR="305117" marT="101917" marB="101917" anchor="ctr" anchorCtr="0"/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608330" y="5019675"/>
            <a:ext cx="8729980" cy="1353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800"/>
              </a:lnSpc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  <a:latin typeface="YS Text"/>
                <a:ea typeface="YS Text"/>
              </a:rPr>
              <a:t>Примеры выбора:</a:t>
            </a:r>
            <a:endParaRPr sz="1600" b="1">
              <a:solidFill>
                <a:schemeClr val="tx1"/>
              </a:solidFill>
              <a:latin typeface="YS Text"/>
              <a:ea typeface="YS Text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  <a:buFont typeface="Arial" panose="020B0604020202090204"/>
              <a:buChar char="•"/>
            </a:pPr>
            <a:r>
              <a:rPr lang="en-US" sz="1600" b="1" i="0">
                <a:solidFill>
                  <a:schemeClr val="tx1"/>
                </a:solidFill>
                <a:latin typeface="YS Text"/>
                <a:ea typeface="YS Text"/>
              </a:rPr>
              <a:t>  </a:t>
            </a:r>
            <a:r>
              <a:rPr sz="1600" b="1" i="0">
                <a:solidFill>
                  <a:schemeClr val="tx1"/>
                </a:solidFill>
                <a:latin typeface="YS Text"/>
                <a:ea typeface="YS Text"/>
              </a:rPr>
              <a:t>Partial:</a:t>
            </a:r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 шапка, футер, карточка товара (данные уже в модели)</a:t>
            </a: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  <a:buFont typeface="Arial" panose="020B0604020202090204"/>
              <a:buChar char="•"/>
            </a:pPr>
            <a:r>
              <a:rPr lang="en-US" sz="1600" b="1" i="0">
                <a:solidFill>
                  <a:schemeClr val="tx1"/>
                </a:solidFill>
                <a:latin typeface="YS Text"/>
                <a:ea typeface="YS Text"/>
              </a:rPr>
              <a:t>  </a:t>
            </a:r>
            <a:r>
              <a:rPr sz="1600" b="1" i="0">
                <a:solidFill>
                  <a:schemeClr val="tx1"/>
                </a:solidFill>
                <a:latin typeface="YS Text"/>
                <a:ea typeface="YS Text"/>
              </a:rPr>
              <a:t>ViewComponent:</a:t>
            </a:r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 корзина в шапке, последние статьи, меню с ролями</a:t>
            </a: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>
                <a:sym typeface="+mn-ea"/>
              </a:rPr>
              <a:t>Практическая работа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Панель администратора с динамическими дашбордами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7317</Words>
  <Application>WPS Docs</Application>
  <PresentationFormat>Widescreen</PresentationFormat>
  <Paragraphs>305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1" baseType="lpstr">
      <vt:lpstr>Arial</vt:lpstr>
      <vt:lpstr>SimSun</vt:lpstr>
      <vt:lpstr>Wingdings</vt:lpstr>
      <vt:lpstr>Wingdings</vt:lpstr>
      <vt:lpstr>Helvetica Neue</vt:lpstr>
      <vt:lpstr>Microsoft YaHei</vt:lpstr>
      <vt:lpstr>汉仪旗黑</vt:lpstr>
      <vt:lpstr>Arial Unicode MS</vt:lpstr>
      <vt:lpstr>Calibri</vt:lpstr>
      <vt:lpstr>Helvetica Neue Bold</vt:lpstr>
      <vt:lpstr>Helvetica Neue Italic</vt:lpstr>
      <vt:lpstr>YS Text</vt:lpstr>
      <vt:lpstr>Thonburi</vt:lpstr>
      <vt:lpstr>Times New Roman Regular</vt:lpstr>
      <vt:lpstr>Arial</vt:lpstr>
      <vt:lpstr>宋体-简</vt:lpstr>
      <vt:lpstr>WPS</vt:lpstr>
      <vt:lpstr>Razor Views и клиентская часть</vt:lpstr>
      <vt:lpstr>Цели и задачи занятия</vt:lpstr>
      <vt:lpstr>Архитектура MVC и место View</vt:lpstr>
      <vt:lpstr>PowerPoint 演示文稿</vt:lpstr>
      <vt:lpstr>Что такое Razor: синтаксис и базовые конструкции</vt:lpstr>
      <vt:lpstr>Неявные и явные выражения</vt:lpstr>
      <vt:lpstr>Блоки кода</vt:lpstr>
      <vt:lpstr>Условные операторы</vt:lpstr>
      <vt:lpstr>Циклы</vt:lpstr>
      <vt:lpstr>@functions — функции в представлении</vt:lpstr>
      <vt:lpstr>Локальные функции в блоках кода</vt:lpstr>
      <vt:lpstr>@helper — шаблонные делегаты</vt:lpstr>
      <vt:lpstr>PowerPoint 演示文稿</vt:lpstr>
      <vt:lpstr>Директивы Razor</vt:lpstr>
      <vt:lpstr>Комментарии в Razor</vt:lpstr>
      <vt:lpstr>Layouts, Sections, ViewStart, ViewImports</vt:lpstr>
      <vt:lpstr>Проблема: повторяющийся код</vt:lpstr>
      <vt:lpstr>Layout — мастер-страница</vt:lpstr>
      <vt:lpstr>PowerPoint 演示文稿</vt:lpstr>
      <vt:lpstr>Иерархия layout-ов</vt:lpstr>
      <vt:lpstr>PowerPoint 演示文稿</vt:lpstr>
      <vt:lpstr>_ViewStart.cshtml</vt:lpstr>
      <vt:lpstr>PowerPoint 演示文稿</vt:lpstr>
      <vt:lpstr> _ViewImports.cshtml</vt:lpstr>
      <vt:lpstr>PowerPoint 演示文稿</vt:lpstr>
      <vt:lpstr>Sections — именованные секции</vt:lpstr>
      <vt:lpstr>PowerPoint 演示文稿</vt:lpstr>
      <vt:lpstr>Partial Views — переиспользуемые фрагменты</vt:lpstr>
      <vt:lpstr>PowerPoint 演示文稿</vt:lpstr>
      <vt:lpstr>ViewComponents — когда partial мало</vt:lpstr>
      <vt:lpstr>ViewComponent — пример кода</vt:lpstr>
      <vt:lpstr>PowerPoint 演示文稿</vt:lpstr>
      <vt:lpstr>Сравнение Partial View vs ViewComponent</vt:lpstr>
      <vt:lpstr>Практическая работа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Razor Views и клиентская часть</dc:title>
  <dc:creator>oksanaroslova</dc:creator>
  <cp:lastModifiedBy>Oksana Roslova</cp:lastModifiedBy>
  <cp:revision>1</cp:revision>
  <dcterms:created xsi:type="dcterms:W3CDTF">2026-09-11T06:20:13Z</dcterms:created>
  <dcterms:modified xsi:type="dcterms:W3CDTF">2026-09-11T06:20:13Z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05A1F7C7D2452305D19AA36AFF939E33_41</vt:lpwstr>
  </property>
</Properties>
</file>