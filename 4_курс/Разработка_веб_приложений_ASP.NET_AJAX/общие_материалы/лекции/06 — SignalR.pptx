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1" r:id="rId3"/>
  </p:sldMasterIdLst>
  <p:sldIdLst>
    <p:sldId id="256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embeddedFontLst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9" Type="http://schemas.openxmlformats.org/officeDocument/2006/relationships/theme" Target="../theme/theme2.xml"/><Relationship Id="rId18" Type="http://schemas.openxmlformats.org/officeDocument/2006/relationships/tags" Target="../tags/tag124.xml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7.xml"/><Relationship Id="rId3" Type="http://schemas.openxmlformats.org/officeDocument/2006/relationships/image" Target="../media/image1.png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0.xml"/><Relationship Id="rId3" Type="http://schemas.openxmlformats.org/officeDocument/2006/relationships/image" Target="../media/image2.png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3.xml"/><Relationship Id="rId3" Type="http://schemas.openxmlformats.org/officeDocument/2006/relationships/image" Target="../media/image3.png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6.xml"/><Relationship Id="rId3" Type="http://schemas.openxmlformats.org/officeDocument/2006/relationships/image" Target="../media/image4.png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51.xml"/><Relationship Id="rId2" Type="http://schemas.openxmlformats.org/officeDocument/2006/relationships/image" Target="../media/image5.png"/><Relationship Id="rId1" Type="http://schemas.openxmlformats.org/officeDocument/2006/relationships/tags" Target="../tags/tag150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4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7.xml"/><Relationship Id="rId3" Type="http://schemas.openxmlformats.org/officeDocument/2006/relationships/image" Target="../media/image8.png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59.xml"/><Relationship Id="rId2" Type="http://schemas.openxmlformats.org/officeDocument/2006/relationships/image" Target="../media/image9.png"/><Relationship Id="rId1" Type="http://schemas.openxmlformats.org/officeDocument/2006/relationships/tags" Target="../tags/tag158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61.xml"/><Relationship Id="rId2" Type="http://schemas.openxmlformats.org/officeDocument/2006/relationships/image" Target="../media/image10.png"/><Relationship Id="rId1" Type="http://schemas.openxmlformats.org/officeDocument/2006/relationships/tags" Target="../tags/tag160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63.xml"/><Relationship Id="rId2" Type="http://schemas.openxmlformats.org/officeDocument/2006/relationships/image" Target="../media/image11.png"/><Relationship Id="rId1" Type="http://schemas.openxmlformats.org/officeDocument/2006/relationships/tags" Target="../tags/tag16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67.xml"/><Relationship Id="rId2" Type="http://schemas.openxmlformats.org/officeDocument/2006/relationships/image" Target="../media/image12.png"/><Relationship Id="rId1" Type="http://schemas.openxmlformats.org/officeDocument/2006/relationships/tags" Target="../tags/tag166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70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3.xml"/><Relationship Id="rId3" Type="http://schemas.openxmlformats.org/officeDocument/2006/relationships/image" Target="../media/image15.png"/><Relationship Id="rId2" Type="http://schemas.openxmlformats.org/officeDocument/2006/relationships/tags" Target="../tags/tag172.xml"/><Relationship Id="rId1" Type="http://schemas.openxmlformats.org/officeDocument/2006/relationships/tags" Target="../tags/tag17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tags" Target="../tags/tag174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" Type="http://schemas.openxmlformats.org/officeDocument/2006/relationships/tags" Target="../tags/tag1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1486535"/>
            <a:ext cx="9799200" cy="2570400"/>
          </a:xfrm>
        </p:spPr>
        <p:txBody>
          <a:bodyPr/>
          <a:p>
            <a:r>
              <a:rPr lang="en-US" altLang="en-US"/>
              <a:t>SignalR и real-time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Зачем нужен SignalR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en-US" sz="1700"/>
              <a:t>Обычный сайт работает по принципу «вопрос-ответ»:</a:t>
            </a:r>
            <a:endParaRPr lang="en-US" altLang="en-US" sz="1700"/>
          </a:p>
          <a:p>
            <a:r>
              <a:rPr lang="en-US" altLang="en-US" sz="1700"/>
              <a:t>Вы нажимаете кнопку → браузер отправляет запрос → сервер отвечает → страница обновляется.</a:t>
            </a:r>
            <a:endParaRPr lang="en-US" altLang="en-US" sz="1700"/>
          </a:p>
          <a:p>
            <a:r>
              <a:rPr lang="en-US" altLang="en-US" sz="1700"/>
              <a:t>Если на сервере что-то изменилось, вы об этом не узнаете, пока снова не нажмёте кнопку.</a:t>
            </a:r>
            <a:endParaRPr lang="en-US" altLang="en-US" sz="1700"/>
          </a:p>
          <a:p>
            <a:pPr marL="0" indent="0">
              <a:buNone/>
            </a:pPr>
            <a:r>
              <a:rPr lang="en-US" altLang="en-US" sz="1700"/>
              <a:t>В реальной жизни этого мало:</a:t>
            </a:r>
            <a:endParaRPr lang="en-US" altLang="en-US" sz="1700"/>
          </a:p>
          <a:p>
            <a:r>
              <a:rPr lang="en-US" altLang="en-US" sz="1700"/>
              <a:t>Чат: собеседник написал сообщение — оно должно появиться сразу, без перезагрузки.</a:t>
            </a:r>
            <a:endParaRPr lang="en-US" altLang="en-US" sz="1700"/>
          </a:p>
          <a:p>
            <a:r>
              <a:rPr lang="en-US" altLang="en-US" sz="1700"/>
              <a:t>Доска задач: коллега перевёл задачу в «Готово» — у вас она тоже должна зачеркнуться.</a:t>
            </a:r>
            <a:endParaRPr lang="en-US" altLang="en-US" sz="1700"/>
          </a:p>
          <a:p>
            <a:r>
              <a:rPr lang="en-US" altLang="en-US" sz="1700"/>
              <a:t>Курсы валют на дашборде: цифры меняются каждую секунду сами по себе.</a:t>
            </a:r>
            <a:endParaRPr lang="en-US" altLang="en-US" sz="1700"/>
          </a:p>
          <a:p>
            <a:pPr marL="0" indent="0">
              <a:buNone/>
            </a:pPr>
            <a:r>
              <a:rPr lang="en-US" altLang="en-US" sz="1700" b="1">
                <a:latin typeface="Helvetica Neue Bold" panose="02000503000000020004" charset="0"/>
                <a:cs typeface="Helvetica Neue Bold" panose="02000503000000020004" charset="0"/>
                <a:sym typeface="+mn-ea"/>
              </a:rPr>
              <a:t>SignalR</a:t>
            </a:r>
            <a:r>
              <a:rPr lang="en-US" altLang="en-US" sz="1700">
                <a:sym typeface="+mn-ea"/>
              </a:rPr>
              <a:t> — это библиотека, которая позволяет серверу отправлять данные в браузер в тот момент, когда они появляются, не дожидаясь запроса от клиента. </a:t>
            </a:r>
            <a:endParaRPr lang="en-US" altLang="en-US" sz="1700"/>
          </a:p>
          <a:p>
            <a:pPr marL="0" indent="0">
              <a:buNone/>
            </a:pPr>
            <a:endParaRPr lang="en-US" altLang="en-US" sz="1700"/>
          </a:p>
          <a:p>
            <a:pPr marL="0" indent="0">
              <a:buNone/>
            </a:pPr>
            <a:endParaRPr lang="en-US" altLang="en-US" sz="150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Как SignalR выбирает способ связи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SignalR умеет общаться с браузером тремя способами:</a:t>
            </a:r>
            <a:endParaRPr lang="en-US" altLang="en-US"/>
          </a:p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WebSocket</a:t>
            </a:r>
            <a:r>
              <a:rPr lang="en-US" altLang="en-US"/>
              <a:t> — лучший вариант. Постоянное двустороннее соединение, как телефонный звонок: обе стороны могут говорить когда угодно. Работает во всех современных браузерах.</a:t>
            </a:r>
            <a:endParaRPr lang="en-US" altLang="en-US"/>
          </a:p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Server-Sent Events</a:t>
            </a:r>
            <a:r>
              <a:rPr lang="en-US" altLang="en-US"/>
              <a:t> — запасной вариант. Сервер может отправлять данные в браузер в любой момент, а вот браузер должен отправлять запросы обратно обычным путём.</a:t>
            </a:r>
            <a:endParaRPr lang="en-US" altLang="en-US"/>
          </a:p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Long Polling</a:t>
            </a:r>
            <a:r>
              <a:rPr lang="en-US" altLang="en-US"/>
              <a:t> — крайний случай. Браузер спрашивает «Есть новости?», сервер держит запрос открытым полминуты. Если новости появились — сразу отвечает. Если нет — отвечает «пусто», и браузер снова спрашивает.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457200">
              <a:buNone/>
            </a:pPr>
            <a:r>
              <a:rPr lang="en-US" altLang="en-US"/>
              <a:t>SignalR сам выбирает лучший способ. При подключении он проверяет</a:t>
            </a:r>
            <a:r>
              <a:rPr lang="ru-RU" altLang="en-US"/>
              <a:t> -</a:t>
            </a:r>
            <a:r>
              <a:rPr lang="en-US" altLang="en-US"/>
              <a:t> браузер поддерживает WebSocket? Если да — используется WebSocket. Если нет — пробует следующий вариант. </a:t>
            </a:r>
            <a:r>
              <a:rPr lang="ru-RU" altLang="en-US"/>
              <a:t>Н</a:t>
            </a:r>
            <a:r>
              <a:rPr lang="en-US" altLang="en-US"/>
              <a:t>ичего настраивать не нужно.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Если у пользователя современный браузер — он использует самый быстрый способ. Если пользователь сидит через старый корпоративный прокси, где современный способ не работает — SignalR откатывается к более простому, но рабочему варианту. Главное: ваше приложение работает в любом случае.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Hub — «коммутатор» SignalR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Hub</a:t>
            </a:r>
            <a:r>
              <a:rPr lang="en-US" altLang="en-US"/>
              <a:t> — главный класс на сервере, через который идёт всё общение с клиентами.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Как это работает:</a:t>
            </a:r>
            <a:endParaRPr lang="en-US" altLang="en-US"/>
          </a:p>
          <a:p>
            <a:r>
              <a:rPr lang="en-US" altLang="en-US"/>
              <a:t>Браузер вызывает метод</a:t>
            </a:r>
            <a:r>
              <a:rPr lang="ru-RU" altLang="en-US"/>
              <a:t> </a:t>
            </a:r>
            <a:r>
              <a:rPr lang="en-US" altLang="en-US"/>
              <a:t>SendMessage</a:t>
            </a:r>
            <a:r>
              <a:rPr lang="ru-RU" altLang="en-US"/>
              <a:t> </a:t>
            </a:r>
            <a:r>
              <a:rPr lang="en-US" altLang="en-US"/>
              <a:t>на сервере — как обычную функцию.</a:t>
            </a:r>
            <a:endParaRPr lang="en-US" altLang="en-US"/>
          </a:p>
          <a:p>
            <a:r>
              <a:rPr lang="en-US" altLang="en-US"/>
              <a:t>Сервер выполняет этот метод и решает, кому отправить результат.</a:t>
            </a:r>
            <a:endParaRPr lang="en-US" altLang="en-US"/>
          </a:p>
          <a:p>
            <a:r>
              <a:rPr lang="en-US" altLang="en-US"/>
              <a:t>Clients.All</a:t>
            </a:r>
            <a:r>
              <a:rPr lang="ru-RU" altLang="en-US"/>
              <a:t> - </a:t>
            </a:r>
            <a:r>
              <a:rPr lang="en-US" altLang="en-US"/>
              <a:t>отправить всем</a:t>
            </a:r>
            <a:r>
              <a:rPr lang="ru-RU" altLang="en-US"/>
              <a:t>, </a:t>
            </a:r>
            <a:r>
              <a:rPr lang="en-US" altLang="en-US"/>
              <a:t>Clients.Caller</a:t>
            </a:r>
            <a:r>
              <a:rPr lang="ru-RU" altLang="en-US"/>
              <a:t> - </a:t>
            </a:r>
            <a:r>
              <a:rPr lang="en-US" altLang="en-US"/>
              <a:t>отправить только тому, кто спросил</a:t>
            </a:r>
            <a:r>
              <a:rPr lang="ru-RU" altLang="en-US"/>
              <a:t>, </a:t>
            </a:r>
            <a:r>
              <a:rPr lang="en-US" altLang="en-US"/>
              <a:t>Clients.Others</a:t>
            </a:r>
            <a:r>
              <a:rPr lang="ru-RU" altLang="en-US"/>
              <a:t> - </a:t>
            </a:r>
            <a:r>
              <a:rPr lang="en-US" altLang="en-US"/>
              <a:t>отправить всем, кроме того, кто спросил.</a:t>
            </a:r>
            <a:endParaRPr lang="en-US" altLang="en-US"/>
          </a:p>
        </p:txBody>
      </p:sp>
      <p:pic>
        <p:nvPicPr>
          <p:cNvPr id="6" name="Picture 5" descr="Снимок экрана — 2026-09-24 в 09.13.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95" y="2120900"/>
            <a:ext cx="5398770" cy="18319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Группы — комнаты для общения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5202555"/>
          </a:xfrm>
        </p:spPr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en-US"/>
              <a:t>Часто нужно отправить сообщение не всем, а только части пользователей. Для этого есть группы.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Группа — это просто список подключений, которые хотят получать одинаковые сообщения.</a:t>
            </a:r>
            <a:endParaRPr lang="en-US" altLang="en-US"/>
          </a:p>
          <a:p>
            <a:r>
              <a:rPr lang="en-US" altLang="en-US"/>
              <a:t>Один пользователь может быть в нескольких группах одновременно.</a:t>
            </a:r>
            <a:endParaRPr lang="en-US" altLang="en-US"/>
          </a:p>
          <a:p>
            <a:r>
              <a:rPr lang="en-US" altLang="en-US"/>
              <a:t>Группы существуют только в памяти сервера, они не сохраняются в базе данных.</a:t>
            </a:r>
            <a:endParaRPr lang="en-US" altLang="en-US"/>
          </a:p>
          <a:p>
            <a:r>
              <a:rPr lang="en-US" altLang="en-US"/>
              <a:t>Когда пользователь закрывает вкладку — он автоматически выходит из всех групп.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6" name="Picture 5" descr="Снимок экрана — 2026-09-24 в 09.27.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530" y="2142490"/>
            <a:ext cx="7995920" cy="2679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Жизненный цикл: кто подключился, а кто ушёл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SignalR сам сообщает вам, когда пользователь подключился и когда отключился:</a:t>
            </a:r>
            <a:endParaRPr lang="en-US" altLang="en-US"/>
          </a:p>
        </p:txBody>
      </p:sp>
      <p:pic>
        <p:nvPicPr>
          <p:cNvPr id="6" name="Picture 5" descr="Снимок экрана — 2026-09-24 в 09.31.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65" y="2070100"/>
            <a:ext cx="8763000" cy="47879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9145270" y="2449830"/>
            <a:ext cx="2863215" cy="221234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ct val="150000"/>
              </a:lnSpc>
            </a:pPr>
            <a:r>
              <a:rPr sz="1600" b="1" i="0">
                <a:latin typeface="Consolas"/>
                <a:ea typeface="Consolas"/>
              </a:rPr>
              <a:t>Context.ConnectionId</a:t>
            </a:r>
            <a:r>
              <a:rPr lang="ru-RU" sz="1600" b="0" i="0">
                <a:latin typeface="Consolas"/>
                <a:ea typeface="Consolas"/>
              </a:rPr>
              <a:t> </a:t>
            </a:r>
            <a:r>
              <a:rPr lang="en-US" altLang="en-US" sz="1600" b="0" i="0">
                <a:latin typeface="Consolas"/>
                <a:ea typeface="Consolas"/>
              </a:rPr>
              <a:t>— уникальный номер каждого подключения. Если пользователь открыл две вкладки — это два разных номера. SignalR не путает их между собой.</a:t>
            </a:r>
            <a:endParaRPr lang="en-US" altLang="en-US" sz="1600" b="0" i="0">
              <a:latin typeface="Consolas"/>
              <a:ea typeface="Consolas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Как подключить SignalR на сервере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В Program.cs</a:t>
            </a:r>
            <a:r>
              <a:rPr lang="ru-RU" altLang="en-US"/>
              <a:t> </a:t>
            </a:r>
            <a:r>
              <a:rPr lang="en-US" altLang="en-US"/>
              <a:t>нужно сделать три вещи:</a:t>
            </a:r>
            <a:endParaRPr lang="en-US" altLang="en-US"/>
          </a:p>
        </p:txBody>
      </p:sp>
      <p:pic>
        <p:nvPicPr>
          <p:cNvPr id="6" name="Picture 5" descr="Снимок экрана — 2026-09-24 в 09.38.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2124710"/>
            <a:ext cx="7527925" cy="462407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7667625" y="1693545"/>
            <a:ext cx="4255770" cy="289242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sz="1600" b="0" i="0">
                <a:latin typeface="YS Geo"/>
                <a:ea typeface="YS Geo"/>
              </a:rPr>
              <a:t>Три строки — и SignalR работает.</a:t>
            </a:r>
            <a:endParaRPr sz="1600" b="0" i="0">
              <a:latin typeface="YS Geo"/>
              <a:ea typeface="YS Geo"/>
            </a:endParaRPr>
          </a:p>
          <a:p>
            <a:pPr marL="0" indent="0"/>
            <a:endParaRPr sz="1600" b="0" i="0">
              <a:latin typeface="YS Geo"/>
              <a:ea typeface="YS Geo"/>
            </a:endParaRPr>
          </a:p>
          <a:p>
            <a:pPr marL="0" indent="0"/>
            <a:r>
              <a:rPr sz="1600" b="1" i="0">
                <a:latin typeface="YS Geo"/>
                <a:ea typeface="YS Geo"/>
              </a:rPr>
              <a:t>Важно:</a:t>
            </a:r>
            <a:r>
              <a:rPr sz="1600" b="0" i="0">
                <a:latin typeface="YS Geo"/>
                <a:ea typeface="YS Geo"/>
              </a:rPr>
              <a:t> если фронтенд и бэкенд на разных портах, нужно разрешить междоменные запросы (CORS), и обязательно с параметром</a:t>
            </a:r>
            <a:r>
              <a:rPr lang="ru-RU" sz="1600" b="0" i="0">
                <a:latin typeface="YS Geo"/>
                <a:ea typeface="YS Geo"/>
              </a:rPr>
              <a:t> </a:t>
            </a:r>
            <a:r>
              <a:rPr lang="en-US" altLang="en-US" sz="1600" b="0" i="0">
                <a:latin typeface="YS Geo"/>
                <a:ea typeface="YS Geo"/>
              </a:rPr>
              <a:t>AllowCredentials</a:t>
            </a:r>
            <a:r>
              <a:rPr lang="ru-RU" altLang="en-US" sz="1600" b="0" i="0">
                <a:latin typeface="YS Geo"/>
                <a:ea typeface="YS Geo"/>
              </a:rPr>
              <a:t>.</a:t>
            </a:r>
            <a:endParaRPr lang="ru-RU" altLang="en-US" sz="1600" b="0" i="0">
              <a:latin typeface="YS Geo"/>
              <a:ea typeface="YS Geo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Как подключиться из браузера (JavaScript)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На стороне браузера тоже нужна библиотека SignalR — это пакет @microsoft/signalr. Мы создаём соединение, указываем адрес хаба и запускаем его. Если соединение не установилось (например, сервер не запущен) — пробуем снова через 5 секунд. Это важно: интернет бывает нестабильным, и код должен это учитывать.</a:t>
            </a:r>
            <a:endParaRPr lang="en-US" altLang="en-US"/>
          </a:p>
          <a:p>
            <a:r>
              <a:rPr lang="en-US" altLang="en-US"/>
              <a:t>Установка клиента (через npm):</a:t>
            </a:r>
            <a:r>
              <a:rPr lang="ru-RU" altLang="en-US"/>
              <a:t> </a:t>
            </a:r>
            <a:endParaRPr lang="ru-RU" altLang="en-US"/>
          </a:p>
          <a:p>
            <a:pPr marL="0" indent="0">
              <a:buNone/>
            </a:pPr>
            <a:r>
              <a:rPr lang="en-US" altLang="en-US">
                <a:latin typeface="Courier New Regular" panose="02070409020205090404" charset="0"/>
                <a:cs typeface="Courier New Regular" panose="02070409020205090404" charset="0"/>
              </a:rPr>
              <a:t>npm install @microsoft/signalr</a:t>
            </a:r>
            <a:endParaRPr lang="en-US" altLang="en-US"/>
          </a:p>
          <a:p>
            <a:pPr marL="0" indent="0">
              <a:buNone/>
            </a:pPr>
            <a:r>
              <a:rPr lang="ru-RU" altLang="en-US"/>
              <a:t> </a:t>
            </a:r>
            <a:endParaRPr lang="ru-RU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Подключение:</a:t>
            </a:r>
            <a:endParaRPr lang="en-US"/>
          </a:p>
        </p:txBody>
      </p:sp>
      <p:pic>
        <p:nvPicPr>
          <p:cNvPr id="7" name="Picture 6" descr="Снимок экрана — 2026-09-24 в 10.01.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180" y="884555"/>
            <a:ext cx="7442200" cy="53721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Как браузер и сервер общаются:</a:t>
            </a:r>
            <a:r>
              <a:rPr lang="ru-RU" altLang="en-US"/>
              <a:t> </a:t>
            </a:r>
            <a:r>
              <a:rPr lang="en-US" altLang="en-US"/>
              <a:t>on</a:t>
            </a:r>
            <a:r>
              <a:rPr lang="ru-RU" altLang="en-US"/>
              <a:t> и </a:t>
            </a:r>
            <a:r>
              <a:rPr lang="en-US" altLang="en-US"/>
              <a:t>invoke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У клиента есть два главных метода:</a:t>
            </a:r>
            <a:endParaRPr lang="en-US" altLang="en-US"/>
          </a:p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on</a:t>
            </a:r>
            <a:r>
              <a:rPr lang="ru-RU" altLang="en-US"/>
              <a:t> - </a:t>
            </a:r>
            <a:r>
              <a:rPr lang="en-US" altLang="en-US"/>
              <a:t>слушать сообщения от сервера: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invoke </a:t>
            </a:r>
            <a:r>
              <a:rPr lang="ru-RU" altLang="en-US"/>
              <a:t>- </a:t>
            </a:r>
            <a:r>
              <a:rPr lang="en-US" altLang="en-US"/>
              <a:t>вызвать метод на сервере: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6" name="Picture 5" descr="Снимок экрана — 2026-09-24 в 10.08.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95" y="2529205"/>
            <a:ext cx="6451600" cy="2336800"/>
          </a:xfrm>
          <a:prstGeom prst="rect">
            <a:avLst/>
          </a:prstGeom>
        </p:spPr>
      </p:pic>
      <p:pic>
        <p:nvPicPr>
          <p:cNvPr id="7" name="Picture 6" descr="Снимок экрана — 2026-09-24 в 10.09.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195" y="5431155"/>
            <a:ext cx="7239000" cy="7112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Что делать, если интернет пропал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/>
              <a:t>SignalR умеет автоматически переподключаться: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Массив</a:t>
            </a:r>
            <a:r>
              <a:rPr lang="ru-RU" altLang="en-US"/>
              <a:t> </a:t>
            </a:r>
            <a:r>
              <a:rPr lang="en-US" altLang="en-US"/>
              <a:t>[0, 2000, 5000, 10000, 30000]</a:t>
            </a:r>
            <a:r>
              <a:rPr lang="ru-RU" altLang="en-US"/>
              <a:t> - </a:t>
            </a:r>
            <a:r>
              <a:rPr lang="en-US" altLang="en-US"/>
              <a:t>это задержки между попытками:</a:t>
            </a:r>
            <a:endParaRPr lang="en-US" altLang="en-US"/>
          </a:p>
          <a:p>
            <a:r>
              <a:rPr lang="en-US" altLang="en-US"/>
              <a:t>1-я попытка: сразу</a:t>
            </a:r>
            <a:endParaRPr lang="en-US" altLang="en-US"/>
          </a:p>
          <a:p>
            <a:r>
              <a:rPr lang="en-US" altLang="en-US"/>
              <a:t>2-я: через 2 секунды</a:t>
            </a:r>
            <a:endParaRPr lang="en-US" altLang="en-US"/>
          </a:p>
          <a:p>
            <a:r>
              <a:rPr lang="en-US" altLang="en-US"/>
              <a:t>3-я: через 5 секунд</a:t>
            </a:r>
            <a:endParaRPr lang="en-US" altLang="en-US"/>
          </a:p>
          <a:p>
            <a:r>
              <a:rPr lang="en-US" altLang="en-US"/>
              <a:t>4-я: через 10 секунд</a:t>
            </a:r>
            <a:endParaRPr lang="en-US" altLang="en-US"/>
          </a:p>
          <a:p>
            <a:r>
              <a:rPr lang="en-US" altLang="en-US"/>
              <a:t>5-я: через 30 секунд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Если все попытки провалились — соединение закрывается окончательно.</a:t>
            </a:r>
            <a:endParaRPr lang="en-US" altLang="en-US"/>
          </a:p>
        </p:txBody>
      </p:sp>
      <p:pic>
        <p:nvPicPr>
          <p:cNvPr id="6" name="Picture 5" descr="Снимок экрана — 2026-09-24 в 10.12.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1971040"/>
            <a:ext cx="6527800" cy="11430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137785" y="4051935"/>
            <a:ext cx="6527165" cy="10763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sz="1600" b="1" i="0">
                <a:latin typeface="YS Geo"/>
                <a:ea typeface="YS Geo"/>
              </a:rPr>
              <a:t>Важно:</a:t>
            </a:r>
            <a:r>
              <a:rPr lang="ru-RU" sz="1600" b="1" i="0">
                <a:latin typeface="YS Geo"/>
                <a:ea typeface="YS Geo"/>
              </a:rPr>
              <a:t> </a:t>
            </a:r>
            <a:r>
              <a:rPr sz="1600" b="0" i="0">
                <a:latin typeface="YS Geo"/>
                <a:ea typeface="YS Geo"/>
              </a:rPr>
              <a:t>после переподключения пользователь получает новый номер подключения и автоматически выходит из всех групп. Поэтому после восстановления связи нужно заново вступить в нужные группы.</a:t>
            </a:r>
            <a:endParaRPr sz="1600" b="0" i="0">
              <a:latin typeface="YS Geo"/>
              <a:ea typeface="YS Geo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>
          <a:xfrm>
            <a:off x="608330" y="343535"/>
            <a:ext cx="10972800" cy="5913120"/>
          </a:xfrm>
        </p:spPr>
        <p:txBody>
          <a:bodyPr/>
          <a:p>
            <a:pPr marL="0" indent="0">
              <a:buNone/>
            </a:pPr>
            <a:r>
              <a:rPr lang="ru-RU" altLang="en-US" b="1">
                <a:latin typeface="Helvetica Neue Bold" panose="02000503000000020004" charset="0"/>
                <a:cs typeface="Helvetica Neue Bold" panose="02000503000000020004" charset="0"/>
              </a:rPr>
              <a:t>Как переподключаться к группе?</a:t>
            </a:r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pPr marL="0" indent="0">
              <a:buNone/>
            </a:pPr>
            <a:r>
              <a:rPr lang="en-US" altLang="en-US"/>
              <a:t>Группа — это понятие на сервере: он хранит список подключений, которые в неё входят. Когда соединение рвётся и поднимается заново, у нового подключения нет «памяти» о том, что оно раньше было в группе. Поэтому клиент обязан явно сообщить серверу: «Я снова тут, добавь меня обратно».</a:t>
            </a:r>
            <a:endParaRPr lang="en-US" altLang="en-US"/>
          </a:p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серверная часть</a:t>
            </a:r>
            <a:r>
              <a:rPr lang="ru-RU" altLang="en-US"/>
              <a:t> - </a:t>
            </a:r>
            <a:r>
              <a:rPr lang="en-US" altLang="en-US"/>
              <a:t>метод в хабе, который принимает идентификатор группы (например, ID проекта) и добавляет туда текущее подключение:</a:t>
            </a:r>
            <a:endParaRPr lang="en-US" altLang="en-US"/>
          </a:p>
        </p:txBody>
      </p:sp>
      <p:pic>
        <p:nvPicPr>
          <p:cNvPr id="5" name="Picture 4" descr="Снимок экрана — 2026-09-24 в 10.24.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95" y="3265170"/>
            <a:ext cx="7046595" cy="359283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700645" y="3429000"/>
            <a:ext cx="4142740" cy="2212340"/>
          </a:xfrm>
          <a:prstGeom prst="rect">
            <a:avLst/>
          </a:prstGeom>
        </p:spPr>
        <p:txBody>
          <a:bodyPr>
            <a:noAutofit/>
          </a:bodyPr>
          <a:p>
            <a:r>
              <a:rPr sz="1600" b="1">
                <a:latin typeface="Helvetica Neue Bold" panose="02000503000000020004" charset="0"/>
                <a:cs typeface="Helvetica Neue Bold" panose="02000503000000020004" charset="0"/>
              </a:rPr>
              <a:t>Groups.AddToGroupAsync</a:t>
            </a:r>
            <a:r>
              <a:rPr lang="ru-RU" sz="1600" b="1">
                <a:latin typeface="Helvetica Neue Bold" panose="02000503000000020004" charset="0"/>
                <a:cs typeface="Helvetica Neue Bold" panose="02000503000000020004" charset="0"/>
              </a:rPr>
              <a:t> </a:t>
            </a:r>
            <a:r>
              <a:rPr lang="ru-RU" sz="1600"/>
              <a:t>- </a:t>
            </a:r>
            <a:r>
              <a:rPr lang="en-US" altLang="en-US" sz="1600"/>
              <a:t>это и есть те самые «две строчки» (или одна, если без лога): он связывает текущее соединение (Context.ConnectionId</a:t>
            </a:r>
            <a:r>
              <a:rPr lang="ru-RU" altLang="en-US" sz="1600"/>
              <a:t>) </a:t>
            </a:r>
            <a:r>
              <a:rPr lang="en-US" altLang="en-US" sz="1600"/>
              <a:t>с логической группой. Без этого вызова сервер не будет слать этому подключению сообщения, отправленные в группу.</a:t>
            </a:r>
            <a:endParaRPr lang="en-US" altLang="en-US" sz="1600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на клиенте</a:t>
            </a:r>
            <a:r>
              <a:rPr lang="en-US" altLang="en-US"/>
              <a:t> (JavaScript)</a:t>
            </a:r>
            <a:r>
              <a:rPr lang="ru-RU" altLang="en-US"/>
              <a:t> - </a:t>
            </a:r>
            <a:r>
              <a:rPr lang="en-US" altLang="en-US"/>
              <a:t>Клиент сначала подключается, а потом сразу вызывает метод</a:t>
            </a:r>
            <a:r>
              <a:rPr lang="ru-RU" altLang="en-US"/>
              <a:t> </a:t>
            </a:r>
            <a:r>
              <a:rPr lang="en-US" altLang="en-US"/>
              <a:t>JoinGroup</a:t>
            </a:r>
            <a:r>
              <a:rPr lang="ru-RU" altLang="en-US"/>
              <a:t>, </a:t>
            </a:r>
            <a:r>
              <a:rPr lang="en-US" altLang="en-US"/>
              <a:t>передавая нужный идентификатор: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5" name="Picture 4" descr="Снимок экрана — 2026-09-24 в 10.31.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30" y="1540510"/>
            <a:ext cx="7903210" cy="512000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283575" y="2259330"/>
            <a:ext cx="3710940" cy="2073275"/>
          </a:xfrm>
          <a:prstGeom prst="rect">
            <a:avLst/>
          </a:prstGeom>
        </p:spPr>
        <p:txBody>
          <a:bodyPr>
            <a:noAutofit/>
          </a:bodyPr>
          <a:p>
            <a:r>
              <a:rPr sz="1600"/>
              <a:t>Именно блок</a:t>
            </a:r>
            <a:r>
              <a:rPr lang="ru-RU" sz="1600"/>
              <a:t> </a:t>
            </a:r>
            <a:r>
              <a:rPr lang="en-US" altLang="en-US" sz="1600" b="1">
                <a:latin typeface="Helvetica Neue Bold" panose="02000503000000020004" charset="0"/>
                <a:cs typeface="Helvetica Neue Bold" panose="02000503000000020004" charset="0"/>
              </a:rPr>
              <a:t>onReconnected</a:t>
            </a:r>
            <a:r>
              <a:rPr lang="ru-RU" altLang="en-US" sz="1600" b="1">
                <a:latin typeface="Helvetica Neue Bold" panose="02000503000000020004" charset="0"/>
                <a:cs typeface="Helvetica Neue Bold" panose="02000503000000020004" charset="0"/>
              </a:rPr>
              <a:t> </a:t>
            </a:r>
            <a:r>
              <a:rPr lang="en-US" altLang="en-US" sz="1600"/>
              <a:t>гарантирует, что после восстановления соединения пользователь снова окажется в группе и начнёт получать обновления. Если его не сделать — он будет подключён, но «невидим» для групповых рассылок.</a:t>
            </a:r>
            <a:r>
              <a:rPr sz="1600"/>
              <a:t> </a:t>
            </a:r>
            <a:endParaRPr sz="1600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US" altLang="en-US" sz="1700" b="1">
                <a:latin typeface="Helvetica Neue Bold" panose="02000503000000020004" charset="0"/>
                <a:cs typeface="Helvetica Neue Bold" panose="02000503000000020004" charset="0"/>
              </a:rPr>
              <a:t>Как сделать неограниченные попытки</a:t>
            </a:r>
            <a:r>
              <a:rPr lang="ru-RU" altLang="en-US" sz="1700" b="1">
                <a:latin typeface="Helvetica Neue Bold" panose="02000503000000020004" charset="0"/>
                <a:cs typeface="Helvetica Neue Bold" panose="02000503000000020004" charset="0"/>
              </a:rPr>
              <a:t> подключения?</a:t>
            </a:r>
            <a:endParaRPr lang="ru-RU" altLang="en-US" sz="1700" b="1">
              <a:latin typeface="Helvetica Neue Bold" panose="02000503000000020004" charset="0"/>
              <a:cs typeface="Helvetica Neue Bold" panose="02000503000000020004" charset="0"/>
            </a:endParaRPr>
          </a:p>
          <a:p>
            <a:pPr marL="0" indent="0">
              <a:buNone/>
            </a:pPr>
            <a:r>
              <a:rPr lang="en-US" altLang="en-US" sz="1700">
                <a:latin typeface="Helvetica Neue" panose="02000503000000020004" charset="0"/>
                <a:cs typeface="Helvetica Neue" panose="02000503000000020004" charset="0"/>
              </a:rPr>
              <a:t>Вместо массива задержек нужно передать кастомную политику повторов — объект с методом</a:t>
            </a:r>
            <a:r>
              <a:rPr lang="ru-RU" altLang="en-US" sz="1700">
                <a:latin typeface="Helvetica Neue" panose="02000503000000020004" charset="0"/>
                <a:cs typeface="Helvetica Neue" panose="02000503000000020004" charset="0"/>
              </a:rPr>
              <a:t> </a:t>
            </a:r>
            <a:r>
              <a:rPr lang="en-US" altLang="en-US" sz="1700">
                <a:latin typeface="Helvetica Neue" panose="02000503000000020004" charset="0"/>
                <a:cs typeface="Helvetica Neue" panose="02000503000000020004" charset="0"/>
              </a:rPr>
              <a:t>nextRetryDelayInMilliseconds</a:t>
            </a:r>
            <a:r>
              <a:rPr lang="ru-RU" altLang="en-US" sz="1700">
                <a:latin typeface="Helvetica Neue" panose="02000503000000020004" charset="0"/>
                <a:cs typeface="Helvetica Neue" panose="02000503000000020004" charset="0"/>
              </a:rPr>
              <a:t>. </a:t>
            </a:r>
            <a:r>
              <a:rPr lang="en-US" altLang="en-US" sz="1700">
                <a:latin typeface="Helvetica Neue" panose="02000503000000020004" charset="0"/>
                <a:cs typeface="Helvetica Neue" panose="02000503000000020004" charset="0"/>
              </a:rPr>
              <a:t>Если метод всегда возвращает положительное число, переподключение не остановится:</a:t>
            </a:r>
            <a:r>
              <a:rPr lang="ru-RU" altLang="en-US" sz="1700">
                <a:latin typeface="Helvetica Neue" panose="02000503000000020004" charset="0"/>
                <a:cs typeface="Helvetica Neue" panose="02000503000000020004" charset="0"/>
              </a:rPr>
              <a:t> </a:t>
            </a:r>
            <a:endParaRPr lang="ru-RU" altLang="en-US" sz="1700">
              <a:latin typeface="Helvetica Neue" panose="02000503000000020004" charset="0"/>
              <a:cs typeface="Helvetica Neue" panose="02000503000000020004" charset="0"/>
            </a:endParaRPr>
          </a:p>
          <a:p>
            <a:pPr marL="0" indent="0">
              <a:buNone/>
            </a:pPr>
            <a:endParaRPr lang="ru-RU" altLang="en-US" sz="1700">
              <a:latin typeface="Helvetica Neue" panose="02000503000000020004" charset="0"/>
              <a:cs typeface="Helvetica Neue" panose="02000503000000020004" charset="0"/>
            </a:endParaRPr>
          </a:p>
          <a:p>
            <a:pPr marL="0" indent="0">
              <a:buNone/>
            </a:pPr>
            <a:endParaRPr lang="ru-RU" altLang="en-US" sz="1700">
              <a:latin typeface="Helvetica Neue" panose="02000503000000020004" charset="0"/>
              <a:cs typeface="Helvetica Neue" panose="02000503000000020004" charset="0"/>
            </a:endParaRPr>
          </a:p>
          <a:p>
            <a:pPr marL="0" indent="0">
              <a:buNone/>
            </a:pPr>
            <a:endParaRPr lang="ru-RU" altLang="en-US" sz="1700">
              <a:latin typeface="Helvetica Neue" panose="02000503000000020004" charset="0"/>
              <a:cs typeface="Helvetica Neue" panose="02000503000000020004" charset="0"/>
            </a:endParaRPr>
          </a:p>
          <a:p>
            <a:pPr marL="0" indent="0">
              <a:buNone/>
            </a:pPr>
            <a:endParaRPr lang="ru-RU" altLang="en-US" sz="1700">
              <a:latin typeface="Helvetica Neue" panose="02000503000000020004" charset="0"/>
              <a:cs typeface="Helvetica Neue" panose="02000503000000020004" charset="0"/>
            </a:endParaRPr>
          </a:p>
          <a:p>
            <a:pPr marL="0" indent="0">
              <a:buNone/>
            </a:pPr>
            <a:endParaRPr lang="ru-RU" altLang="en-US" sz="1700">
              <a:latin typeface="Helvetica Neue" panose="02000503000000020004" charset="0"/>
              <a:cs typeface="Helvetica Neue" panose="02000503000000020004" charset="0"/>
            </a:endParaRPr>
          </a:p>
          <a:p>
            <a:pPr marL="0" indent="0">
              <a:buNone/>
            </a:pPr>
            <a:endParaRPr lang="ru-RU" altLang="en-US" sz="1700">
              <a:latin typeface="Helvetica Neue" panose="02000503000000020004" charset="0"/>
              <a:cs typeface="Helvetica Neue" panose="02000503000000020004" charset="0"/>
            </a:endParaRPr>
          </a:p>
          <a:p>
            <a:pPr marL="0" indent="0">
              <a:buNone/>
            </a:pPr>
            <a:endParaRPr lang="en-US" altLang="en-US" sz="1700">
              <a:latin typeface="Helvetica Neue" panose="02000503000000020004" charset="0"/>
              <a:cs typeface="Helvetica Neue" panose="02000503000000020004" charset="0"/>
            </a:endParaRPr>
          </a:p>
          <a:p>
            <a:pPr marL="0" indent="0">
              <a:buNone/>
            </a:pPr>
            <a:r>
              <a:rPr lang="en-US" altLang="en-US" sz="1700">
                <a:latin typeface="Helvetica Neue" panose="02000503000000020004" charset="0"/>
                <a:cs typeface="Helvetica Neue" panose="02000503000000020004" charset="0"/>
              </a:rPr>
              <a:t>Здесь задержка растёт линейно до 30 секунд и потом остаётся на этом уровне — бесконечно.</a:t>
            </a:r>
            <a:endParaRPr lang="en-US" altLang="en-US" sz="1700">
              <a:latin typeface="Helvetica Neue" panose="02000503000000020004" charset="0"/>
              <a:cs typeface="Helvetica Neue" panose="02000503000000020004" charset="0"/>
            </a:endParaRPr>
          </a:p>
        </p:txBody>
      </p:sp>
      <p:pic>
        <p:nvPicPr>
          <p:cNvPr id="5" name="Picture 4" descr="Снимок экрана — 2026-09-24 в 10.37.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" y="2364105"/>
            <a:ext cx="8421370" cy="31997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>
          <a:xfrm>
            <a:off x="608330" y="431800"/>
            <a:ext cx="10972800" cy="616648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/>
              <a:t>С массивом</a:t>
            </a:r>
            <a:r>
              <a:rPr lang="ru-RU" altLang="en-US"/>
              <a:t> </a:t>
            </a:r>
            <a:r>
              <a:rPr lang="en-US" altLang="en-US"/>
              <a:t>[0, 2000, 5000, 10000, 30000]</a:t>
            </a:r>
            <a:r>
              <a:rPr lang="ru-RU" altLang="en-US"/>
              <a:t> </a:t>
            </a:r>
            <a:r>
              <a:rPr lang="en-US" altLang="en-US"/>
              <a:t>после последней попытки (30 секунд) SignalR сдаётся и переводит соединение в состояние Disconnected</a:t>
            </a:r>
            <a:r>
              <a:rPr lang="ru-RU" altLang="en-US"/>
              <a:t>. </a:t>
            </a:r>
            <a:r>
              <a:rPr lang="en-US" altLang="en-US"/>
              <a:t>Вызвать</a:t>
            </a:r>
            <a:r>
              <a:rPr lang="ru-RU" altLang="en-US"/>
              <a:t> </a:t>
            </a:r>
            <a:r>
              <a:rPr lang="en-US" altLang="en-US"/>
              <a:t>onReconnected</a:t>
            </a:r>
            <a:r>
              <a:rPr lang="ru-RU" altLang="en-US"/>
              <a:t> </a:t>
            </a:r>
            <a:r>
              <a:rPr lang="en-US" altLang="en-US"/>
              <a:t>уже не получится — нужно вручную делать</a:t>
            </a:r>
            <a:r>
              <a:rPr lang="ru-RU" altLang="en-US"/>
              <a:t> </a:t>
            </a:r>
            <a:r>
              <a:rPr lang="en-US" altLang="en-US"/>
              <a:t>connection.start()</a:t>
            </a:r>
            <a:r>
              <a:rPr lang="ru-RU" altLang="en-US"/>
              <a:t>. </a:t>
            </a:r>
            <a:endParaRPr lang="ru-RU" altLang="en-US"/>
          </a:p>
          <a:p>
            <a:pPr marL="0" indent="0">
              <a:buNone/>
            </a:pP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Можно ли так делать?</a:t>
            </a:r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pPr marL="0" indent="0">
              <a:buNone/>
            </a:pPr>
            <a:r>
              <a:rPr lang="en-US" altLang="en-US">
                <a:latin typeface="Helvetica Neue" panose="02000503000000020004" charset="0"/>
                <a:cs typeface="Helvetica Neue" panose="02000503000000020004" charset="0"/>
              </a:rPr>
              <a:t>Технически — да. Практически — лучше не стоит.</a:t>
            </a:r>
            <a:endParaRPr lang="en-US" altLang="en-US">
              <a:latin typeface="Helvetica Neue" panose="02000503000000020004" charset="0"/>
              <a:cs typeface="Helvetica Neue" panose="02000503000000020004" charset="0"/>
            </a:endParaRPr>
          </a:p>
          <a:p>
            <a:r>
              <a:rPr lang="en-US" altLang="en-US">
                <a:latin typeface="Helvetica Neue" panose="02000503000000020004" charset="0"/>
                <a:cs typeface="Helvetica Neue" panose="02000503000000020004" charset="0"/>
              </a:rPr>
              <a:t>Проблема 1 — сервер ушёл навсегда. Если сервер демонтировали, а клиент бесконечно стучится — это пустая нагрузка на сеть и процессор. На мобильных устройствах это ещё и батарея.</a:t>
            </a:r>
            <a:endParaRPr lang="en-US" altLang="en-US">
              <a:latin typeface="Helvetica Neue" panose="02000503000000020004" charset="0"/>
              <a:cs typeface="Helvetica Neue" panose="02000503000000020004" charset="0"/>
            </a:endParaRPr>
          </a:p>
          <a:p>
            <a:r>
              <a:rPr lang="en-US" altLang="en-US">
                <a:latin typeface="Helvetica Neue" panose="02000503000000020004" charset="0"/>
                <a:cs typeface="Helvetica Neue" panose="02000503000000020004" charset="0"/>
              </a:rPr>
              <a:t>Проблема 2 — пользователь ничего не знает. Бесконечный ретрай работает тихо. Пользователь думает, что приложение живо, а на самом деле оно уже минуту не получает данные. Лучше показать «Соединение потеряно» и кнопку «Переподключить».</a:t>
            </a:r>
            <a:endParaRPr lang="en-US" altLang="en-US">
              <a:latin typeface="Helvetica Neue" panose="02000503000000020004" charset="0"/>
              <a:cs typeface="Helvetica Neue" panose="02000503000000020004" charset="0"/>
            </a:endParaRPr>
          </a:p>
          <a:p>
            <a:r>
              <a:rPr lang="en-US" altLang="en-US">
                <a:latin typeface="Helvetica Neue" panose="02000503000000020004" charset="0"/>
                <a:cs typeface="Helvetica Neue" panose="02000503000000020004" charset="0"/>
              </a:rPr>
              <a:t>Проблема 3 — маскировка багов. Если соединение рвётся из-за ошибки в коде (например, хаб кидает исключение), бесконечный ретрай скрывает проблему вместо того, чтобы её показать.</a:t>
            </a:r>
            <a:endParaRPr lang="en-US" altLang="en-US">
              <a:latin typeface="Helvetica Neue" panose="02000503000000020004" charset="0"/>
              <a:cs typeface="Helvetica Neue" panose="02000503000000020004" charset="0"/>
            </a:endParaRPr>
          </a:p>
          <a:p>
            <a:pPr marL="0" indent="0">
              <a:buNone/>
            </a:pPr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pPr marL="0" indent="0">
              <a:buNone/>
            </a:pPr>
            <a:endParaRPr lang="en-US" altLang="en-US" sz="1600" b="1">
              <a:latin typeface="Helvetica Neue Bold" panose="02000503000000020004" charset="0"/>
              <a:cs typeface="Helvetica Neue Bold" panose="020005030000000200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>
          <a:xfrm>
            <a:off x="608330" y="203835"/>
            <a:ext cx="10972800" cy="6052820"/>
          </a:xfrm>
        </p:spPr>
        <p:txBody>
          <a:bodyPr/>
          <a:p>
            <a:pPr marL="0" indent="0">
              <a:buNone/>
            </a:pPr>
            <a:r>
              <a:rPr lang="ru-RU" altLang="en-US" b="1">
                <a:latin typeface="Helvetica Neue Bold" panose="02000503000000020004" charset="0"/>
                <a:cs typeface="Helvetica Neue Bold" panose="02000503000000020004" charset="0"/>
              </a:rPr>
              <a:t>Поэтому </a:t>
            </a: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ограниченные попытки + ручное переподключение</a:t>
            </a:r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</p:txBody>
      </p:sp>
      <p:pic>
        <p:nvPicPr>
          <p:cNvPr id="5" name="Picture 4" descr="Снимок экрана — 2026-09-24 в 10.43.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805180"/>
            <a:ext cx="7797165" cy="60528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Как SignalR работает вместе с базой данных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Типичная задача: пользователь создал задачу — нужно сохранить её в базу и тут же показать всем остальным.</a:t>
            </a:r>
            <a:endParaRPr lang="en-US" altLang="en-US"/>
          </a:p>
        </p:txBody>
      </p:sp>
      <p:pic>
        <p:nvPicPr>
          <p:cNvPr id="7" name="Picture 6" descr="Снимок экрана — 2026-09-24 в 10.45.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" y="2313305"/>
            <a:ext cx="5713730" cy="2198370"/>
          </a:xfrm>
          <a:prstGeom prst="rect">
            <a:avLst/>
          </a:prstGeom>
        </p:spPr>
      </p:pic>
      <p:pic>
        <p:nvPicPr>
          <p:cNvPr id="8" name="Picture 7" descr="Снимок экрана — 2026-09-24 в 10.45.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630" y="2235200"/>
            <a:ext cx="6305550" cy="297370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374650" y="5511165"/>
            <a:ext cx="1106170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sz="1600" b="1" i="0">
                <a:latin typeface="YS Geo"/>
                <a:ea typeface="YS Geo"/>
              </a:rPr>
              <a:t>Порядок важен:</a:t>
            </a:r>
            <a:r>
              <a:rPr sz="1600" b="0" i="0">
                <a:latin typeface="YS Geo"/>
                <a:ea typeface="YS Geo"/>
              </a:rPr>
              <a:t> сначала база, потом уведомление. </a:t>
            </a:r>
            <a:endParaRPr sz="1600" b="0" i="0">
              <a:latin typeface="YS Geo"/>
              <a:ea typeface="YS Geo"/>
            </a:endParaRPr>
          </a:p>
          <a:p>
            <a:pPr marL="0" indent="0"/>
            <a:r>
              <a:rPr sz="1600" b="0" i="0">
                <a:latin typeface="YS Geo"/>
                <a:ea typeface="YS Geo"/>
              </a:rPr>
              <a:t>Иначе можно отправить сообщение о задаче, которой ещё не существует.</a:t>
            </a:r>
            <a:endParaRPr sz="1600" b="0" i="0">
              <a:latin typeface="YS Geo"/>
              <a:ea typeface="YS Geo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Раз у нас SignalR, зачем нам REST?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457200">
              <a:buNone/>
            </a:pPr>
            <a:r>
              <a:rPr lang="en-US" altLang="en-US"/>
              <a:t>SignalR — это живые обновления, а не хранилище. Если пользователь был офлайн и пропустил пять изменений, SignalR не сможет их воспроизвести. Поэтому при загрузке страницы мы всегда сначала запрашиваем текущее состояние через обычный REST API — это даёт нам актуальную картину. А потом подключаем SignalR, чтобы ловить всё, что произойдёт дальше, в реальном времени. </a:t>
            </a:r>
            <a:endParaRPr lang="en-US" altLang="en-US"/>
          </a:p>
        </p:txBody>
      </p:sp>
      <p:pic>
        <p:nvPicPr>
          <p:cNvPr id="6" name="Picture 5" descr="Снимок экрана — 2026-09-24 в 10.48.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95" y="3429000"/>
            <a:ext cx="8128000" cy="31369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8335" y="126435"/>
            <a:ext cx="10969200" cy="705600"/>
          </a:xfrm>
        </p:spPr>
        <p:txBody>
          <a:bodyPr/>
          <a:p>
            <a:r>
              <a:rPr lang="en-US" altLang="en-US"/>
              <a:t>AJAX, REST и SignalR — в чём разница?</a:t>
            </a:r>
            <a:endParaRPr lang="en-US" altLang="en-US"/>
          </a:p>
        </p:txBody>
      </p:sp>
      <p:graphicFrame>
        <p:nvGraphicFramePr>
          <p:cNvPr id="6" name="Content Placeholder 5"/>
          <p:cNvGraphicFramePr/>
          <p:nvPr>
            <p:ph idx="1"/>
            <p:custDataLst>
              <p:tags r:id="rId2"/>
            </p:custDataLst>
          </p:nvPr>
        </p:nvGraphicFramePr>
        <p:xfrm>
          <a:off x="0" y="1187450"/>
          <a:ext cx="121920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870"/>
                <a:gridCol w="3213100"/>
                <a:gridCol w="3669030"/>
                <a:gridCol w="3048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Критерий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AJAX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REST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SignalR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b="1">
                          <a:latin typeface="Helvetica Neue Bold" panose="02000503000000020004" charset="0"/>
                          <a:cs typeface="Helvetica Neue Bold" panose="02000503000000020004" charset="0"/>
                        </a:rPr>
                        <a:t>Что это</a:t>
                      </a:r>
                      <a:r>
                        <a:rPr lang="lv-LV" altLang="en-US" b="1">
                          <a:latin typeface="Helvetica Neue Bold" panose="02000503000000020004" charset="0"/>
                          <a:cs typeface="Helvetica Neue Bold" panose="02000503000000020004" charset="0"/>
                        </a:rPr>
                        <a:t> </a:t>
                      </a:r>
                      <a:r>
                        <a:rPr lang="en-US" altLang="en-US" b="1">
                          <a:latin typeface="Helvetica Neue Bold" panose="02000503000000020004" charset="0"/>
                          <a:cs typeface="Helvetica Neue Bold" panose="02000503000000020004" charset="0"/>
                        </a:rPr>
                        <a:t>такое</a:t>
                      </a:r>
                      <a:endParaRPr lang="en-US" altLang="en-US" b="1">
                        <a:latin typeface="Helvetica Neue Bold" panose="02000503000000020004" charset="0"/>
                        <a:cs typeface="Helvetica Neue Bold" panose="020005030000000200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Технология (способ) отправить HTTP-запрос без перезагрузки страницы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Архитектурный стиль (набор правил), как проектировать API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Библиотека для постоянного соединения и обмена данными в реальном времени</a:t>
                      </a:r>
                      <a:endParaRPr lang="en-US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b="1">
                          <a:latin typeface="Helvetica Neue Bold" panose="02000503000000020004" charset="0"/>
                          <a:cs typeface="Helvetica Neue Bold" panose="02000503000000020004" charset="0"/>
                        </a:rPr>
                        <a:t>Кто придумал/создал</a:t>
                      </a:r>
                      <a:endParaRPr lang="en-US" altLang="en-US" b="1">
                        <a:latin typeface="Helvetica Neue Bold" panose="02000503000000020004" charset="0"/>
                        <a:cs typeface="Helvetica Neue Bold" panose="020005030000000200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Появился как набор приёмов в браузерах (XHR, позже Fetch)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Описан Роем Филдингом в 2000 году как архитектурный стиль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Создан Microsoft для ASP.NET</a:t>
                      </a:r>
                      <a:endParaRPr lang="en-US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b="1">
                          <a:latin typeface="Helvetica Neue Bold" panose="02000503000000020004" charset="0"/>
                          <a:cs typeface="Helvetica Neue Bold" panose="02000503000000020004" charset="0"/>
                        </a:rPr>
                        <a:t>Суть работы</a:t>
                      </a:r>
                      <a:endParaRPr lang="en-US" altLang="en-US" b="1">
                        <a:latin typeface="Helvetica Neue Bold" panose="02000503000000020004" charset="0"/>
                        <a:cs typeface="Helvetica Neue Bold" panose="020005030000000200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Клиент сам отправляет запрос, ждёт ответ, обновляет часть страницы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Запросы выглядят правильно: URL — существительное (ресурс), метод — глагол (GET, POST). Коды ответов осмысленные (200, 404, 201)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Сервер сам отправляет данные клиенту в момент события, без запроса со стороны клиента</a:t>
                      </a:r>
                      <a:endParaRPr lang="en-US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b="1">
                          <a:latin typeface="Helvetica Neue Bold" panose="02000503000000020004" charset="0"/>
                          <a:cs typeface="Helvetica Neue Bold" panose="02000503000000020004" charset="0"/>
                        </a:rPr>
                        <a:t>Зависимость друг от друга</a:t>
                      </a:r>
                      <a:endParaRPr lang="en-US" altLang="en-US" b="1">
                        <a:latin typeface="Helvetica Neue Bold" panose="02000503000000020004" charset="0"/>
                        <a:cs typeface="Helvetica Neue Bold" panose="020005030000000200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AJAX — это транспорт. Он может работать с REST, а может и с RPC (если URL кривые).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REST — это правила. REST-запросы можно отправлять через AJAX, через Postman, через консоль — через что угодно.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SignalR — самостоятельный канал связи. Он не подчиняется правилам REST, у него свои хабы и методы.</a:t>
                      </a:r>
                      <a:endParaRPr lang="en-US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b="1">
                          <a:latin typeface="Helvetica Neue Bold" panose="02000503000000020004" charset="0"/>
                          <a:cs typeface="Helvetica Neue Bold" panose="02000503000000020004" charset="0"/>
                        </a:rPr>
                        <a:t>Направление обмена</a:t>
                      </a:r>
                      <a:endParaRPr lang="en-US" altLang="en-US" b="1">
                        <a:latin typeface="Helvetica Neue Bold" panose="02000503000000020004" charset="0"/>
                        <a:cs typeface="Helvetica Neue Bold" panose="020005030000000200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В обе стороны, но всегда по инициативе клиента (спросил — ответили)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В обе стороны, но всегда по инициативе клиента (спросил — ответили)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В обе стороны. Сервер может сам «протолкнуть» данные, и клиент может вызвать метод на сервере</a:t>
                      </a:r>
                      <a:endParaRPr lang="en-US" altLang="en-US" sz="16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AJAX, REST и SignalR — в чём разница?</a:t>
            </a:r>
            <a:endParaRPr lang="en-US" altLang="en-US"/>
          </a:p>
        </p:txBody>
      </p:sp>
      <p:graphicFrame>
        <p:nvGraphicFramePr>
          <p:cNvPr id="6" name="Content Placeholder 5"/>
          <p:cNvGraphicFramePr/>
          <p:nvPr>
            <p:ph idx="1"/>
            <p:custDataLst>
              <p:tags r:id="rId2"/>
            </p:custDataLst>
          </p:nvPr>
        </p:nvGraphicFramePr>
        <p:xfrm>
          <a:off x="-1270" y="1490345"/>
          <a:ext cx="121945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635"/>
                <a:gridCol w="3048635"/>
                <a:gridCol w="3048635"/>
                <a:gridCol w="304863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Критерий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AJAX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REST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SignalR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b="1">
                          <a:latin typeface="Helvetica Neue Bold" panose="02000503000000020004" charset="0"/>
                          <a:cs typeface="Helvetica Neue Bold" panose="02000503000000020004" charset="0"/>
                        </a:rPr>
                        <a:t>Тип соединения</a:t>
                      </a:r>
                      <a:endParaRPr lang="en-US" altLang="en-US" b="1">
                        <a:latin typeface="Helvetica Neue Bold" panose="02000503000000020004" charset="0"/>
                        <a:cs typeface="Helvetica Neue Bold" panose="020005030000000200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Короткое: отправил запрос, получил ответ, соединение закрылось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Короткое: то же самое. REST не подразумевает постоянное соединение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Постоянное: один раз подключились и держим канал открытым</a:t>
                      </a:r>
                      <a:endParaRPr lang="en-US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b="1">
                          <a:latin typeface="Helvetica Neue Bold" panose="02000503000000020004" charset="0"/>
                          <a:cs typeface="Helvetica Neue Bold" panose="02000503000000020004" charset="0"/>
                        </a:rPr>
                        <a:t>Задержка обновления</a:t>
                      </a:r>
                      <a:endParaRPr lang="en-US" altLang="en-US" b="1">
                        <a:latin typeface="Helvetica Neue Bold" panose="02000503000000020004" charset="0"/>
                        <a:cs typeface="Helvetica Neue Bold" panose="020005030000000200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Зависит от того, как часто клиент спрашивает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Зависит от того, как часто клиент спрашивает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Мгновенная: данные приходят ровно в момент события</a:t>
                      </a:r>
                      <a:endParaRPr lang="en-US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b="1">
                          <a:latin typeface="Helvetica Neue Bold" panose="02000503000000020004" charset="0"/>
                          <a:cs typeface="Helvetica Neue Bold" panose="02000503000000020004" charset="0"/>
                        </a:rPr>
                        <a:t>Для чего подходит</a:t>
                      </a:r>
                      <a:endParaRPr lang="en-US" altLang="en-US" b="1">
                        <a:latin typeface="Helvetica Neue Bold" panose="02000503000000020004" charset="0"/>
                        <a:cs typeface="Helvetica Neue Bold" panose="020005030000000200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Обновить часть страницы, получить данные, отправить форму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Спроектировать понятное API, с которым легко работать разным клиентам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Чаты, live-дашборды, уведомления, совместные редакторы</a:t>
                      </a:r>
                      <a:endParaRPr lang="en-US" altLang="en-US"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 Box 1"/>
          <p:cNvSpPr txBox="1"/>
          <p:nvPr/>
        </p:nvSpPr>
        <p:spPr>
          <a:xfrm>
            <a:off x="349250" y="4846320"/>
            <a:ext cx="1137856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lang="ru-RU" b="0" i="0">
                <a:latin typeface="YS Geo"/>
                <a:ea typeface="YS Geo"/>
              </a:rPr>
              <a:t>Н</a:t>
            </a:r>
            <a:r>
              <a:rPr b="0" i="0">
                <a:latin typeface="YS Geo"/>
                <a:ea typeface="YS Geo"/>
              </a:rPr>
              <a:t>а практике они работают вместе: вы проектируете API по правилам REST, отправляете обычные запросы через AJAX (или Fetch), а для мгновенных обновлений подключаете SignalR.</a:t>
            </a:r>
            <a:endParaRPr b="0" i="0">
              <a:latin typeface="YS Geo"/>
              <a:ea typeface="YS Geo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TABLE_ENDDRAG_ORIGIN_RECT" val="959*412"/>
  <p:tag name="TABLE_ENDDRAG_RECT" val="0*63*960*412"/>
</p:tagLst>
</file>

<file path=ppt/tags/tag1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TABLE_ENDDRAG_ORIGIN_RECT" val="911*200"/>
  <p:tag name="TABLE_ENDDRAG_RECT" val="0*117*911*200"/>
</p:tagLst>
</file>

<file path=ppt/tags/tag1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Helvetica Neue"/>
        <a:ea typeface=""/>
        <a:cs typeface=""/>
        <a:font script="Jpan" typeface="BIZ UDMincho"/>
        <a:font script="Hang" typeface="맑은 고딕"/>
        <a:font script="Hans" typeface="等线 Light"/>
        <a:font script="Hant" typeface="微軟正黑體"/>
        <a:font script="Arab" typeface="Geeza Pro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BIZ UDMincho"/>
        <a:font script="Hang" typeface="맑은 고딕"/>
        <a:font script="Hans" typeface="等线"/>
        <a:font script="Hant" typeface="微軟正黑體"/>
        <a:font script="Arab" typeface="Geeza Pro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Helvetica Neue"/>
        <a:ea typeface=""/>
        <a:cs typeface=""/>
        <a:font script="Jpan" typeface="BIZ UDMincho"/>
        <a:font script="Hang" typeface="맑은 고딕"/>
        <a:font script="Hans" typeface="等线 Light"/>
        <a:font script="Hant" typeface="微軟正黑體"/>
        <a:font script="Arab" typeface="Geeza Pro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BIZ UDMincho"/>
        <a:font script="Hang" typeface="맑은 고딕"/>
        <a:font script="Hans" typeface="等线"/>
        <a:font script="Hant" typeface="微軟正黑體"/>
        <a:font script="Arab" typeface="Geeza Pro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9187</Words>
  <Application>WPS Docs</Application>
  <PresentationFormat>Widescreen</PresentationFormat>
  <Paragraphs>236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40" baseType="lpstr">
      <vt:lpstr>Arial</vt:lpstr>
      <vt:lpstr>SimSun</vt:lpstr>
      <vt:lpstr>Wingdings</vt:lpstr>
      <vt:lpstr>Wingdings</vt:lpstr>
      <vt:lpstr>Helvetica Neue</vt:lpstr>
      <vt:lpstr>Microsoft YaHei</vt:lpstr>
      <vt:lpstr>汉仪旗黑</vt:lpstr>
      <vt:lpstr>Arial Unicode MS</vt:lpstr>
      <vt:lpstr>Calibri</vt:lpstr>
      <vt:lpstr>宋体-简</vt:lpstr>
      <vt:lpstr>Helvetica Neue Bold</vt:lpstr>
      <vt:lpstr>Consolas</vt:lpstr>
      <vt:lpstr>Thonburi</vt:lpstr>
      <vt:lpstr>YS Geo</vt:lpstr>
      <vt:lpstr>PingFang SC Regular</vt:lpstr>
      <vt:lpstr>Courier New Regular</vt:lpstr>
      <vt:lpstr>Times New Roman Regular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AJAX, REST и SignalR — в чём разница?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SignalR и real-time</dc:title>
  <dc:creator>oksanaroslova</dc:creator>
  <cp:lastModifiedBy>Oksana Roslova</cp:lastModifiedBy>
  <cp:revision>71</cp:revision>
  <dcterms:created xsi:type="dcterms:W3CDTF">2026-09-24T08:50:32Z</dcterms:created>
  <dcterms:modified xsi:type="dcterms:W3CDTF">2026-09-24T08:50:32Z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1033-12.1.26050.26050</vt:lpwstr>
  </property>
  <property fmtid="{D5CDD505-2E9C-101B-9397-08002B2CF9AE}" pid="3" name="ICV">
    <vt:lpwstr>4AE23FE2E79AFB08B9B6B46AA596DEB2_41</vt:lpwstr>
  </property>
</Properties>
</file>