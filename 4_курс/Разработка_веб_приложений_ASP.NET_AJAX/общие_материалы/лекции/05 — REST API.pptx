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9.xml"/><Relationship Id="rId2" Type="http://schemas.openxmlformats.org/officeDocument/2006/relationships/image" Target="../media/image1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2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4.xml"/><Relationship Id="rId2" Type="http://schemas.openxmlformats.org/officeDocument/2006/relationships/image" Target="../media/image3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6.xml"/><Relationship Id="rId2" Type="http://schemas.openxmlformats.org/officeDocument/2006/relationships/image" Target="../media/image4.png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7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80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9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89.xml"/><Relationship Id="rId2" Type="http://schemas.openxmlformats.org/officeDocument/2006/relationships/image" Target="../media/image10.png"/><Relationship Id="rId1" Type="http://schemas.openxmlformats.org/officeDocument/2006/relationships/tags" Target="../tags/tag8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11.png"/><Relationship Id="rId1" Type="http://schemas.openxmlformats.org/officeDocument/2006/relationships/tags" Target="../tags/tag9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9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0.xml"/><Relationship Id="rId2" Type="http://schemas.openxmlformats.org/officeDocument/2006/relationships/image" Target="../media/image16.png"/><Relationship Id="rId1" Type="http://schemas.openxmlformats.org/officeDocument/2006/relationships/tags" Target="../tags/tag9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17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05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10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20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2.xml"/><Relationship Id="rId2" Type="http://schemas.openxmlformats.org/officeDocument/2006/relationships/image" Target="../media/image21.png"/><Relationship Id="rId1" Type="http://schemas.openxmlformats.org/officeDocument/2006/relationships/tags" Target="../tags/tag11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22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17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tags" Target="../tags/tag1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9.xml"/><Relationship Id="rId1" Type="http://schemas.openxmlformats.org/officeDocument/2006/relationships/tags" Target="../tags/tag11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4.xml"/><Relationship Id="rId2" Type="http://schemas.openxmlformats.org/officeDocument/2006/relationships/image" Target="../media/image25.png"/><Relationship Id="rId1" Type="http://schemas.openxmlformats.org/officeDocument/2006/relationships/tags" Target="../tags/tag1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8.xml"/><Relationship Id="rId2" Type="http://schemas.openxmlformats.org/officeDocument/2006/relationships/image" Target="../media/image26.png"/><Relationship Id="rId1" Type="http://schemas.openxmlformats.org/officeDocument/2006/relationships/tags" Target="../tags/tag1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29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30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32.xml"/><Relationship Id="rId2" Type="http://schemas.openxmlformats.org/officeDocument/2006/relationships/image" Target="../media/image29.png"/><Relationship Id="rId1" Type="http://schemas.openxmlformats.org/officeDocument/2006/relationships/tags" Target="../tags/tag13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536700"/>
            <a:ext cx="9799200" cy="2570400"/>
          </a:xfrm>
        </p:spPr>
        <p:txBody>
          <a:bodyPr/>
          <a:p>
            <a:r>
              <a:rPr lang="en-US" altLang="en-US"/>
              <a:t>REST API в ASP.NET Core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REST — что это и зачем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REST (Representational State Transfer) — способ строить API, где:</a:t>
            </a:r>
            <a:endParaRPr lang="en-US" altLang="en-US"/>
          </a:p>
          <a:p>
            <a:r>
              <a:rPr lang="en-US" altLang="en-US"/>
              <a:t>Ресурс — любая сущность: пользователь, заказ, товар. У ресурса есть URL.</a:t>
            </a:r>
            <a:endParaRPr lang="en-US" altLang="en-US"/>
          </a:p>
          <a:p>
            <a:r>
              <a:rPr lang="en-US" altLang="en-US"/>
              <a:t>Действие — HTTP-метод: GET, POST, PUT, DELETE.</a:t>
            </a:r>
            <a:endParaRPr lang="en-US" altLang="en-US"/>
          </a:p>
          <a:p>
            <a:r>
              <a:rPr lang="en-US" altLang="en-US"/>
              <a:t>Представление — формат ответа (обычно JSON).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Ресурс:    /users/42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Метод:     GET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Ответ:     { "id": 42, "name": "Анна" }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Главное правило:</a:t>
            </a:r>
            <a:r>
              <a:rPr lang="en-US" altLang="en-US"/>
              <a:t> URL описывает ЧТО (ресурс), метод — ЧТО ДЕЛАТЬ (действие).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REST — это стиль построения API. Не протокол, не стандарт, а набор правил. Главное из них: адрес — это существительное, а метод — глагол.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Не POST /getUserById, а GET /users/42.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 первом случае адрес — это действие, во втором — ресурс. REST требует второго.</a:t>
            </a:r>
            <a:endParaRPr lang="en-US" altLang="en-US"/>
          </a:p>
          <a:p>
            <a:pPr marL="0" indent="0">
              <a:buNone/>
            </a:pPr>
            <a:r>
              <a:rPr lang="ru-RU" altLang="en-US"/>
              <a:t>Часто</a:t>
            </a:r>
            <a:r>
              <a:rPr lang="en-US" altLang="en-US"/>
              <a:t> пишут URL как вызов функции: /api/GetUserList</a:t>
            </a:r>
            <a:r>
              <a:rPr lang="ru-RU" altLang="en-US"/>
              <a:t> - э</a:t>
            </a:r>
            <a:r>
              <a:rPr lang="en-US" altLang="en-US"/>
              <a:t>то RPC-стиль (Remote Procedure Call), не REST.</a:t>
            </a:r>
            <a:r>
              <a:rPr lang="ru-RU" altLang="en-US"/>
              <a:t> </a:t>
            </a:r>
            <a:r>
              <a:rPr lang="en-US" altLang="en-US"/>
              <a:t>В REST адрес всегда указывает на сущность, а не на операцию.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21 в 23.04.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690" y="3759200"/>
            <a:ext cx="5575300" cy="2497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Модель зрелости Ричардсона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Richardson Maturity Model</a:t>
            </a:r>
            <a:r>
              <a:rPr lang="en-US" altLang="en-US"/>
              <a:t> — шкала из 4 уровней, показывает, насколько API использует возможности REST: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Уровень 2 — стандарт индустрии.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Уровень 3 — почти не используется.</a:t>
            </a:r>
            <a:endParaRPr lang="en-US" altLang="en-US"/>
          </a:p>
        </p:txBody>
      </p:sp>
      <p:pic>
        <p:nvPicPr>
          <p:cNvPr id="6" name="Picture 5" descr="Снимок экрана — 2026-09-21 в 23.05.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466975"/>
            <a:ext cx="8826500" cy="2806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Уровень 0 — это SOAP/RPC: HTTP используется как труба, метод всегда POST, действие описано в теле.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Уровень 1 — разделили ресурсы по адресам, но метод один.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Уровень 2 — добавили правильные глаголы и коды ответов.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Уровень 3 — добавили гиперссылки (HATEOAS = Hypermedia As The Engine Of Application State).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Пример ответа уровня 3:</a:t>
            </a:r>
            <a:endParaRPr lang="en-US" altLang="en-US"/>
          </a:p>
        </p:txBody>
      </p:sp>
      <p:pic>
        <p:nvPicPr>
          <p:cNvPr id="5" name="Picture 4" descr="Снимок экрана — 2026-09-21 в 23.08.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5" y="3726815"/>
            <a:ext cx="7213600" cy="2362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Что именно даёт «уровень 2»</a:t>
            </a:r>
            <a:endParaRPr lang="en-US" altLang="en-US"/>
          </a:p>
          <a:p>
            <a:r>
              <a:rPr lang="en-US" altLang="en-US"/>
              <a:t>Ресурсы — это сущности (пользователь, заказ, товар), у них есть URL.</a:t>
            </a:r>
            <a:endParaRPr lang="en-US" altLang="en-US"/>
          </a:p>
          <a:p>
            <a:r>
              <a:rPr lang="en-US" altLang="en-US"/>
              <a:t>Действия задаются HTTP‑методами: GET, POST, PUT, PATCH, DELETE.</a:t>
            </a:r>
            <a:endParaRPr lang="en-US" altLang="en-US"/>
          </a:p>
          <a:p>
            <a:r>
              <a:rPr lang="en-US" altLang="en-US"/>
              <a:t>Семантика методов соблюдается: GET только читает, PUT обычно полностью заменяет ресурс, DELETE удаляет и т. д.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Это и есть то, что большинство разработчиков называют «нормальным REST API».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Пример ответа уровня 2 для REST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Допустим, у нас ресурс</a:t>
            </a:r>
            <a:r>
              <a:rPr lang="lv-LV" altLang="en-US">
                <a:latin typeface="Helvetica Neue" panose="02000503000000020004" charset="0"/>
                <a:cs typeface="Helvetica Neue" panose="02000503000000020004" charset="0"/>
              </a:rPr>
              <a:t> </a:t>
            </a: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/api/users/{id}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GET /api/users/42 — получить пользователя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Статус‑код:</a:t>
            </a:r>
            <a:r>
              <a:rPr lang="lv-LV" altLang="en-US">
                <a:latin typeface="Helvetica Neue" panose="02000503000000020004" charset="0"/>
                <a:cs typeface="Helvetica Neue" panose="02000503000000020004" charset="0"/>
              </a:rPr>
              <a:t> 200 OK</a:t>
            </a:r>
            <a:endParaRPr lang="lv-LV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5" name="Picture 4" descr="Снимок экрана — 2026-09-21 в 23.11.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095" y="4702810"/>
            <a:ext cx="3556000" cy="1739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PUT /api/users/42 — полностью обновить пользователя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Запрос (тело):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Ответ (часто возвращают обновлённый ресурс):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Статус‑код:</a:t>
            </a:r>
            <a:r>
              <a:rPr lang="lv-LV" altLang="en-US"/>
              <a:t> 200 OK </a:t>
            </a:r>
            <a:r>
              <a:rPr lang="ru-RU" altLang="lv-LV"/>
              <a:t>или 204 </a:t>
            </a:r>
            <a:r>
              <a:rPr lang="lv-LV" altLang="ru-RU"/>
              <a:t>No Content </a:t>
            </a:r>
            <a:r>
              <a:rPr lang="en-US" altLang="en-US"/>
              <a:t>(если сервер не возвращает тело).</a:t>
            </a:r>
            <a:endParaRPr lang="en-US" altLang="en-US"/>
          </a:p>
        </p:txBody>
      </p:sp>
      <p:pic>
        <p:nvPicPr>
          <p:cNvPr id="5" name="Picture 4" descr="Снимок экрана — 2026-09-21 в 23.13.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185" y="1306195"/>
            <a:ext cx="3924300" cy="1574800"/>
          </a:xfrm>
          <a:prstGeom prst="rect">
            <a:avLst/>
          </a:prstGeom>
        </p:spPr>
      </p:pic>
      <p:pic>
        <p:nvPicPr>
          <p:cNvPr id="6" name="Picture 5" descr="Снимок экрана — 2026-09-21 в 23.13.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495" y="3105150"/>
            <a:ext cx="3962400" cy="176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PATCH /api/users/42 — частично обновить (например, только email)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Запрос: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(JSON Patch) или другой формат, который поддерживает API.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Ответ: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Статус‑код: </a:t>
            </a:r>
            <a:r>
              <a:rPr lang="lv-LV" altLang="en-US"/>
              <a:t>200 OK</a:t>
            </a:r>
            <a:endParaRPr lang="lv-LV" altLang="en-US"/>
          </a:p>
        </p:txBody>
      </p:sp>
      <p:pic>
        <p:nvPicPr>
          <p:cNvPr id="5" name="Picture 4" descr="Снимок экрана — 2026-09-21 в 23.15.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090" y="1267460"/>
            <a:ext cx="7454900" cy="876300"/>
          </a:xfrm>
          <a:prstGeom prst="rect">
            <a:avLst/>
          </a:prstGeom>
        </p:spPr>
      </p:pic>
      <p:pic>
        <p:nvPicPr>
          <p:cNvPr id="6" name="Picture 5" descr="Снимок экрана — 2026-09-21 в 23.15.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055" y="2915920"/>
            <a:ext cx="3365500" cy="176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DELETE /api/users/42 — удалить пользователя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Ответ может быть пустым</a:t>
            </a:r>
            <a:r>
              <a:rPr lang="lv-LV" altLang="en-US"/>
              <a:t>.</a:t>
            </a:r>
            <a:endParaRPr lang="lv-LV" altLang="en-US"/>
          </a:p>
          <a:p>
            <a:pPr marL="0" indent="0">
              <a:buNone/>
            </a:pPr>
            <a:r>
              <a:rPr lang="en-US" altLang="en-US"/>
              <a:t>Статус‑код:</a:t>
            </a:r>
            <a:r>
              <a:rPr lang="lv-LV" altLang="en-US"/>
              <a:t> 204 No Content.</a:t>
            </a:r>
            <a:endParaRPr lang="lv-LV" altLang="en-US"/>
          </a:p>
          <a:p>
            <a:pPr marL="0" indent="0">
              <a:buNone/>
            </a:pPr>
            <a:r>
              <a:rPr lang="en-US" altLang="en-US"/>
              <a:t>Это типично для уровня 2: действие выражено методом, ресурс — URL, а ответ соответствует семантике метода.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HTTP-методы и идемпотентность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altLang="en-US"/>
              <a:t>Идемпотентность — повторный запрос даёт тот же результат, что и первый.</a:t>
            </a:r>
            <a:endParaRPr lang="en-US" altLang="en-US"/>
          </a:p>
          <a:p>
            <a:pPr lvl="1"/>
            <a:r>
              <a:rPr lang="en-US" altLang="en-US"/>
              <a:t>DELETE /users/42</a:t>
            </a:r>
            <a:r>
              <a:rPr lang="lv-LV" altLang="en-US"/>
              <a:t> - </a:t>
            </a:r>
            <a:r>
              <a:rPr lang="en-US" altLang="en-US"/>
              <a:t>10 раз → пользователь удалён (результат тот же)</a:t>
            </a:r>
            <a:endParaRPr lang="en-US" altLang="en-US"/>
          </a:p>
          <a:p>
            <a:pPr lvl="1"/>
            <a:r>
              <a:rPr lang="en-US" altLang="en-US"/>
              <a:t>POST /users</a:t>
            </a:r>
            <a:r>
              <a:rPr lang="lv-LV" altLang="en-US"/>
              <a:t> </a:t>
            </a:r>
            <a:r>
              <a:rPr lang="en-US" altLang="en-US"/>
              <a:t>10 раз → создано 10 пользователей (результат разный)</a:t>
            </a:r>
            <a:endParaRPr lang="en-US" altLang="en-US"/>
          </a:p>
        </p:txBody>
      </p:sp>
      <p:pic>
        <p:nvPicPr>
          <p:cNvPr id="6" name="Picture 5" descr="Снимок экрана — 2026-09-21 в 23.18.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60" y="1490345"/>
            <a:ext cx="6946900" cy="3314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Идемпотентность — это про надёжность.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Если сеть моргнула и клиент не получил ответ, он может повторить запрос. Но безопасно повторять только идемпотентные методы.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DELETE и PUT можно повторять — результат не изменится.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POST нельзя — будет дубликат.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Поэтому для важных операций (платежи, заказы) часто используют Idempotency-Key — уникальный заголовок, по которому сервер понимает, что это повтор, а не новый запрос.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PUT vs PATCH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PUT заменяет ресурс целиком. Если поле не указано — оно становится null.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PATCH меняет только указанные поля, остальное не трогает.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5" name="Picture 4" descr="Снимок экрана — 2026-09-21 в 23.22.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192530"/>
            <a:ext cx="9169400" cy="2921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ApiController и роутинг в ASP.NET Core</a:t>
            </a:r>
            <a:endParaRPr lang="en-US" altLang="en-US"/>
          </a:p>
        </p:txBody>
      </p:sp>
      <p:pic>
        <p:nvPicPr>
          <p:cNvPr id="6" name="Picture 5" descr="Снимок экрана — 2026-09-21 в 23.24.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2015490"/>
            <a:ext cx="7939405" cy="370967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117205" y="1739900"/>
            <a:ext cx="3840480" cy="341757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1600" i="0">
                <a:solidFill>
                  <a:srgbClr val="000000"/>
                </a:solidFill>
                <a:latin typeface="YS Text"/>
                <a:ea typeface="YS Text"/>
              </a:rPr>
              <a:t>Что даёт</a:t>
            </a:r>
            <a:r>
              <a:rPr lang="lv-LV" sz="1600" i="0">
                <a:solidFill>
                  <a:srgbClr val="000000"/>
                </a:solidFill>
                <a:latin typeface="YS Text"/>
                <a:ea typeface="YS Text"/>
              </a:rPr>
              <a:t> [ApiController]:</a:t>
            </a:r>
            <a:endParaRPr lang="lv-LV" sz="1600" i="0">
              <a:solidFill>
                <a:srgbClr val="000000"/>
              </a:solidFill>
              <a:latin typeface="YS Text"/>
              <a:ea typeface="YS Text"/>
            </a:endParaRPr>
          </a:p>
          <a:p>
            <a:pPr marL="0" indent="0"/>
            <a:endParaRPr lang="lv-LV" sz="1600" i="0">
              <a:solidFill>
                <a:srgbClr val="000000"/>
              </a:solidFill>
              <a:latin typeface="YS Text"/>
              <a:ea typeface="YS Tex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i="0">
                <a:solidFill>
                  <a:srgbClr val="000000"/>
                </a:solidFill>
                <a:latin typeface="YS Text"/>
                <a:ea typeface="YS Text"/>
              </a:rPr>
              <a:t>Автоматическая валидация модели → 400 Bad Request (без ручного кода)</a:t>
            </a:r>
            <a:endParaRPr lang="en-US" altLang="en-US" sz="1600" i="0">
              <a:solidFill>
                <a:srgbClr val="000000"/>
              </a:solidFill>
              <a:latin typeface="YS Text"/>
              <a:ea typeface="YS Tex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i="0">
                <a:solidFill>
                  <a:srgbClr val="000000"/>
                </a:solidFill>
                <a:latin typeface="YS Text"/>
                <a:ea typeface="YS Text"/>
              </a:rPr>
              <a:t>Умное определение, откуда брать параметры (тело, маршрут, query)</a:t>
            </a:r>
            <a:endParaRPr lang="en-US" altLang="en-US" sz="1600" i="0">
              <a:solidFill>
                <a:srgbClr val="000000"/>
              </a:solidFill>
              <a:latin typeface="YS Text"/>
              <a:ea typeface="YS Tex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en-US" sz="1600" i="0">
                <a:solidFill>
                  <a:srgbClr val="000000"/>
                </a:solidFill>
                <a:latin typeface="YS Text"/>
                <a:ea typeface="YS Text"/>
              </a:rPr>
              <a:t>Единый формат ошибок (ProblemDetails)</a:t>
            </a:r>
            <a:endParaRPr lang="en-US" altLang="en-US" sz="1600" i="0">
              <a:solidFill>
                <a:srgbClr val="000000"/>
              </a:solidFill>
              <a:latin typeface="YS Text"/>
              <a:ea typeface="YS Tex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lv-LV" altLang="en-US"/>
              <a:t>‘</a:t>
            </a:r>
            <a:r>
              <a:rPr lang="ru-RU" altLang="lv-LV"/>
              <a:t>Ч</a:t>
            </a:r>
            <a:r>
              <a:rPr lang="en-US" altLang="en-US"/>
              <a:t>ем ControllerBase отличается от Controller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Controller</a:t>
            </a:r>
            <a:r>
              <a:rPr lang="ru-RU" altLang="en-US"/>
              <a:t> </a:t>
            </a:r>
            <a:r>
              <a:rPr lang="en-US" altLang="en-US"/>
              <a:t>наследуется от</a:t>
            </a:r>
            <a:r>
              <a:rPr lang="ru-RU" altLang="en-US"/>
              <a:t> </a:t>
            </a:r>
            <a:r>
              <a:rPr lang="en-US" altLang="en-US"/>
              <a:t>ControllerBase</a:t>
            </a:r>
            <a:r>
              <a:rPr lang="ru-RU" altLang="en-US"/>
              <a:t> </a:t>
            </a:r>
            <a:r>
              <a:rPr lang="en-US" altLang="en-US"/>
              <a:t>и добавляет поддержку View (Razor). Для API поддержка View не нужна — поэтому наследуемся от </a:t>
            </a:r>
            <a:r>
              <a:rPr lang="lv-LV" altLang="en-US"/>
              <a:t>ControllerBase. </a:t>
            </a:r>
            <a:r>
              <a:rPr lang="en-US" altLang="en-US"/>
              <a:t>Это меньший, более лёгкий базовый класс.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Возвраты: ActionResult&lt;T&gt; и статус-коды</a:t>
            </a:r>
            <a:endParaRPr lang="en-US" altLang="en-US"/>
          </a:p>
        </p:txBody>
      </p:sp>
      <p:pic>
        <p:nvPicPr>
          <p:cNvPr id="6" name="Picture 5" descr="Снимок экрана — 2026-09-21 в 23.28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" y="1414145"/>
            <a:ext cx="7077710" cy="2325370"/>
          </a:xfrm>
          <a:prstGeom prst="rect">
            <a:avLst/>
          </a:prstGeom>
        </p:spPr>
      </p:pic>
      <p:pic>
        <p:nvPicPr>
          <p:cNvPr id="7" name="Picture 6" descr="Снимок экрана — 2026-09-21 в 23.29.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65" y="3739515"/>
            <a:ext cx="6092825" cy="311848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445375" y="1911350"/>
            <a:ext cx="460057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sz="1600" b="0" i="0">
                <a:solidFill>
                  <a:srgbClr val="000000"/>
                </a:solidFill>
                <a:latin typeface="YS Text"/>
                <a:ea typeface="YS Text"/>
              </a:rPr>
              <a:t>При POST правильно возвращать 201 Created, а не 200 OK. </a:t>
            </a:r>
            <a:endParaRPr sz="1600" b="0" i="0">
              <a:solidFill>
                <a:srgbClr val="000000"/>
              </a:solidFill>
              <a:latin typeface="YS Text"/>
              <a:ea typeface="YS Text"/>
            </a:endParaRPr>
          </a:p>
          <a:p>
            <a:pPr marL="0" indent="0">
              <a:lnSpc>
                <a:spcPct val="150000"/>
              </a:lnSpc>
            </a:pPr>
            <a:r>
              <a:rPr sz="1600" b="0" i="0">
                <a:solidFill>
                  <a:srgbClr val="000000"/>
                </a:solidFill>
                <a:latin typeface="YS Text"/>
                <a:ea typeface="YS Text"/>
              </a:rPr>
              <a:t>201 говорит клиенту: ресурс создан. А</a:t>
            </a:r>
            <a:r>
              <a:rPr lang="lv-LV" sz="1600" b="0" i="0">
                <a:solidFill>
                  <a:srgbClr val="000000"/>
                </a:solidFill>
                <a:latin typeface="YS Text"/>
                <a:ea typeface="YS Text"/>
              </a:rPr>
              <a:t> </a:t>
            </a:r>
            <a:r>
              <a:rPr lang="en-US" altLang="en-US" sz="1600" b="0" i="0">
                <a:solidFill>
                  <a:srgbClr val="000000"/>
                </a:solidFill>
                <a:latin typeface="YS Text"/>
                <a:ea typeface="YS Text"/>
              </a:rPr>
              <a:t>CreatedAtAction</a:t>
            </a:r>
            <a:r>
              <a:rPr lang="lv-LV" altLang="en-US" sz="1600" b="0" i="0">
                <a:solidFill>
                  <a:srgbClr val="000000"/>
                </a:solidFill>
                <a:latin typeface="YS Text"/>
                <a:ea typeface="YS Text"/>
              </a:rPr>
              <a:t> </a:t>
            </a:r>
            <a:r>
              <a:rPr lang="en-US" altLang="en-US" sz="1600" b="0" i="0">
                <a:solidFill>
                  <a:srgbClr val="000000"/>
                </a:solidFill>
                <a:latin typeface="YS Text"/>
                <a:ea typeface="YS Text"/>
              </a:rPr>
              <a:t>автоматически формирует заголовок</a:t>
            </a:r>
            <a:r>
              <a:rPr lang="lv-LV" altLang="en-US" sz="1600" b="0" i="0">
                <a:solidFill>
                  <a:srgbClr val="000000"/>
                </a:solidFill>
                <a:latin typeface="YS Text"/>
                <a:ea typeface="YS Text"/>
              </a:rPr>
              <a:t> </a:t>
            </a:r>
            <a:r>
              <a:rPr lang="en-US" altLang="en-US" sz="1600" b="0" i="0">
                <a:solidFill>
                  <a:srgbClr val="000000"/>
                </a:solidFill>
                <a:latin typeface="YS Text"/>
                <a:ea typeface="YS Text"/>
              </a:rPr>
              <a:t>Location</a:t>
            </a:r>
            <a:r>
              <a:rPr lang="lv-LV" altLang="en-US" sz="1600" b="0" i="0">
                <a:solidFill>
                  <a:srgbClr val="000000"/>
                </a:solidFill>
                <a:latin typeface="YS Text"/>
                <a:ea typeface="YS Text"/>
              </a:rPr>
              <a:t> </a:t>
            </a:r>
            <a:r>
              <a:rPr lang="en-US" altLang="en-US" sz="1600" b="0" i="0">
                <a:solidFill>
                  <a:srgbClr val="000000"/>
                </a:solidFill>
                <a:latin typeface="YS Text"/>
                <a:ea typeface="YS Text"/>
              </a:rPr>
              <a:t> с адресом нового ресурса. </a:t>
            </a:r>
            <a:endParaRPr lang="en-US" altLang="en-US" sz="1600" b="0" i="0">
              <a:solidFill>
                <a:srgbClr val="000000"/>
              </a:solidFill>
              <a:latin typeface="YS Text"/>
              <a:ea typeface="YS Text"/>
            </a:endParaRPr>
          </a:p>
          <a:p>
            <a:pPr marL="0" indent="0">
              <a:lnSpc>
                <a:spcPct val="150000"/>
              </a:lnSpc>
            </a:pPr>
            <a:r>
              <a:rPr lang="en-US" altLang="en-US" sz="1600" b="0" i="0">
                <a:solidFill>
                  <a:srgbClr val="000000"/>
                </a:solidFill>
                <a:latin typeface="YS Text"/>
                <a:ea typeface="YS Text"/>
              </a:rPr>
              <a:t>Клиент может сразу перейти по этому адресу и получить созданный объект. Это стандарт REST.</a:t>
            </a:r>
            <a:endParaRPr lang="en-US" altLang="en-US" sz="1600" b="0" i="0">
              <a:solidFill>
                <a:srgbClr val="000000"/>
              </a:solidFill>
              <a:latin typeface="YS Text"/>
              <a:ea typeface="YS Tex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ProblemDetails — единый формат ошибок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ProblemDetails (RFC 7807) — стандартный формат описания ошибок API.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Content-Type:</a:t>
            </a:r>
            <a:r>
              <a:rPr lang="lv-LV" altLang="en-US"/>
              <a:t> </a:t>
            </a:r>
            <a:r>
              <a:rPr lang="en-US" altLang="en-US"/>
              <a:t>application/problem+json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Включение в ASP.NET Core:</a:t>
            </a:r>
            <a:endParaRPr lang="en-US" altLang="en-US"/>
          </a:p>
          <a:p>
            <a:r>
              <a:rPr lang="en-US" altLang="en-US"/>
              <a:t>ProblemDetails — это единый стандарт: всегда есть</a:t>
            </a:r>
            <a:r>
              <a:rPr lang="lv-LV" altLang="en-US"/>
              <a:t> </a:t>
            </a:r>
            <a:r>
              <a:rPr lang="en-US" altLang="en-US"/>
              <a:t>title</a:t>
            </a:r>
            <a:r>
              <a:rPr lang="lv-LV" altLang="en-US"/>
              <a:t>, </a:t>
            </a:r>
            <a:r>
              <a:rPr lang="en-US" altLang="en-US"/>
              <a:t>status</a:t>
            </a:r>
            <a:r>
              <a:rPr lang="lv-LV" altLang="en-US"/>
              <a:t>, </a:t>
            </a:r>
            <a:r>
              <a:rPr lang="en-US" altLang="en-US"/>
              <a:t>detail</a:t>
            </a:r>
            <a:r>
              <a:rPr lang="lv-LV" altLang="en-US"/>
              <a:t>. </a:t>
            </a:r>
            <a:r>
              <a:rPr lang="en-US" altLang="en-US"/>
              <a:t>В .NET это включается одной строкой и автоматически применяется к ошибкам валидации, 404 и другим.</a:t>
            </a:r>
            <a:endParaRPr lang="en-US" altLang="en-US"/>
          </a:p>
        </p:txBody>
      </p:sp>
      <p:pic>
        <p:nvPicPr>
          <p:cNvPr id="6" name="Picture 5" descr="Снимок экрана — 2026-09-21 в 23.32.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" y="2091690"/>
            <a:ext cx="5908040" cy="1769110"/>
          </a:xfrm>
          <a:prstGeom prst="rect">
            <a:avLst/>
          </a:prstGeom>
        </p:spPr>
      </p:pic>
      <p:pic>
        <p:nvPicPr>
          <p:cNvPr id="7" name="Picture 6" descr="Снимок экрана — 2026-09-21 в 23.33.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410" y="4424045"/>
            <a:ext cx="4152900" cy="4191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 b="1">
                <a:latin typeface="Helvetica Neue Bold" panose="02000503000000020004" charset="0"/>
                <a:cs typeface="Helvetica Neue Bold" panose="02000503000000020004" charset="0"/>
              </a:rPr>
              <a:t>Р</a:t>
            </a: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асширение ProblemDetails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Для ошибок валидации ASP.NET Core использует</a:t>
            </a:r>
            <a:r>
              <a:rPr lang="ru-RU" altLang="en-US"/>
              <a:t> </a:t>
            </a:r>
            <a:r>
              <a:rPr lang="en-US" altLang="en-US"/>
              <a:t>ValidationProblemDetails</a:t>
            </a:r>
            <a:r>
              <a:rPr lang="ru-RU" altLang="en-US"/>
              <a:t> - </a:t>
            </a:r>
            <a:r>
              <a:rPr lang="en-US" altLang="en-US"/>
              <a:t>наследник ProblemDetails с дополнительным полем</a:t>
            </a:r>
            <a:r>
              <a:rPr lang="ru-RU" altLang="en-US"/>
              <a:t> </a:t>
            </a:r>
            <a:r>
              <a:rPr lang="en-US" altLang="en-US"/>
              <a:t>errors</a:t>
            </a:r>
            <a:r>
              <a:rPr lang="ru-RU" altLang="en-US"/>
              <a:t>:</a:t>
            </a: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en-US" altLang="en-US"/>
              <a:t>Можно создать свой класс-наследник, если нужно добавить поля (например, </a:t>
            </a:r>
            <a:r>
              <a:rPr lang="ru-RU" altLang="en-US"/>
              <a:t> </a:t>
            </a:r>
            <a:r>
              <a:rPr lang="en-US" altLang="en-US"/>
              <a:t>traceId</a:t>
            </a:r>
            <a:r>
              <a:rPr lang="ru-RU" altLang="en-US"/>
              <a:t> </a:t>
            </a:r>
            <a:r>
              <a:rPr lang="en-US" altLang="en-US"/>
              <a:t>для отладки).</a:t>
            </a:r>
            <a:endParaRPr lang="en-US" altLang="en-US"/>
          </a:p>
          <a:p>
            <a:pPr marL="0" indent="0">
              <a:buNone/>
            </a:pPr>
            <a:endParaRPr lang="ru-RU" altLang="en-US"/>
          </a:p>
        </p:txBody>
      </p:sp>
      <p:pic>
        <p:nvPicPr>
          <p:cNvPr id="5" name="Picture 4" descr="Снимок экрана — 2026-09-21 в 23.35.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2266950"/>
            <a:ext cx="4827905" cy="19291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DTO — зачем и как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DTO (Data Transfer Object) — объект для передачи данных между API и клиентом. Отдельный от Entity (модели БД).</a:t>
            </a:r>
            <a:endParaRPr lang="en-US" altLang="en-US"/>
          </a:p>
        </p:txBody>
      </p:sp>
      <p:pic>
        <p:nvPicPr>
          <p:cNvPr id="6" name="Picture 5" descr="Снимок экрана — 2026-09-21 в 23.37.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30" y="2408555"/>
            <a:ext cx="6400800" cy="2743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Ручной маппинг: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AutoMapper (обзор):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Entity — это структура БД. DTO — это контракт API. Они могут отличаться. 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В Entity могут быть поля, которые клиенту нельзя видеть: хэш пароля, флаги удаления, служебные даты. DTO — это то, что мы явно разрешаем показать. Плюс, если завтра поменяем структуру БД, DTO останется прежним и клиенты не сломаются.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0">
              <a:buNone/>
            </a:pP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5" name="Picture 4" descr="Снимок экрана — 2026-09-21 в 23.38.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532765"/>
            <a:ext cx="6096000" cy="1993900"/>
          </a:xfrm>
          <a:prstGeom prst="rect">
            <a:avLst/>
          </a:prstGeom>
        </p:spPr>
      </p:pic>
      <p:pic>
        <p:nvPicPr>
          <p:cNvPr id="6" name="Picture 5" descr="Снимок экрана — 2026-09-21 в 23.38.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745" y="3067050"/>
            <a:ext cx="80264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ручной маппинг vs AutoMapper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Ручной — полный контроль, быстрая работа, легко дебажить. Минус: много повторяющегося кода при десятках DTO.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AutoMapper — меньше кода, удобен для больших проектов. Минус: работает через рефлексию (медленнее), сложнее дебажить.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Правило: до 15–20 DTO — ручной маппинг. Больше — AutoMapper. В .NET также появились source generators (Mapperly) — генерируют код на этапе компиляции.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Версионирование API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Зачем: не ломать старых клиентов при изменении API.</a:t>
            </a:r>
            <a:endParaRPr lang="en-US" altLang="en-US"/>
          </a:p>
        </p:txBody>
      </p:sp>
      <p:pic>
        <p:nvPicPr>
          <p:cNvPr id="6" name="Picture 5" descr="Снимок экрана — 2026-09-21 в 23.41.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0" y="1990725"/>
            <a:ext cx="7912100" cy="41675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688705" y="4968875"/>
            <a:ext cx="3382010" cy="17329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2800"/>
              </a:lnSpc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000000"/>
                </a:solidFill>
                <a:latin typeface="YS Text"/>
                <a:ea typeface="YS Text"/>
              </a:rPr>
              <a:t>Рекомендация:</a:t>
            </a:r>
            <a:r>
              <a:rPr sz="1600" b="0">
                <a:solidFill>
                  <a:srgbClr val="000000"/>
                </a:solidFill>
                <a:latin typeface="YS Text"/>
                <a:ea typeface="YS Text"/>
              </a:rPr>
              <a:t> </a:t>
            </a:r>
            <a:r>
              <a:rPr sz="1600" b="0">
                <a:solidFill>
                  <a:srgbClr val="000000"/>
                </a:solidFill>
                <a:latin typeface="YS Text"/>
                <a:ea typeface="YS Text"/>
              </a:rPr>
              <a:t>URL-сегмент — самый понятный и распространённый.</a:t>
            </a:r>
            <a:endParaRPr sz="1600" b="0">
              <a:solidFill>
                <a:srgbClr val="000000"/>
              </a:solidFill>
              <a:latin typeface="YS Text"/>
              <a:ea typeface="YS Text"/>
            </a:endParaRPr>
          </a:p>
          <a:p>
            <a:pPr marL="0" indent="0">
              <a:lnSpc>
                <a:spcPts val="2800"/>
              </a:lnSpc>
              <a:spcBef>
                <a:spcPts val="800"/>
              </a:spcBef>
              <a:spcAft>
                <a:spcPts val="800"/>
              </a:spcAft>
            </a:pPr>
            <a:endParaRPr lang="en-US" altLang="en-US" sz="1600" b="1">
              <a:solidFill>
                <a:srgbClr val="000000"/>
              </a:solidFill>
              <a:latin typeface="YS Text"/>
              <a:ea typeface="YS Tex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en-US"/>
              <a:t>Реализация (пакет</a:t>
            </a:r>
            <a:r>
              <a:rPr lang="ru-RU" altLang="en-US"/>
              <a:t> </a:t>
            </a:r>
            <a:r>
              <a:rPr lang="en-US" altLang="en-US"/>
              <a:t>Asp.Versioning.Mvc</a:t>
            </a:r>
            <a:r>
              <a:rPr lang="ru-RU" altLang="en-US"/>
              <a:t>)</a:t>
            </a:r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endParaRPr lang="ru-RU" altLang="en-US"/>
          </a:p>
          <a:p>
            <a:r>
              <a:rPr lang="en-US" altLang="en-US"/>
              <a:t>Если вы изменили API и старые клиенты перестали работать — это плохо. Версионирование позволяет держать несколько версий одновременно. Самый понятный способ — номер версии в URL: </a:t>
            </a:r>
            <a:r>
              <a:rPr lang="ru-RU" altLang="en-US"/>
              <a:t> </a:t>
            </a:r>
            <a:r>
              <a:rPr lang="en-US" altLang="en-US"/>
              <a:t>/api/v1/products</a:t>
            </a:r>
            <a:r>
              <a:rPr lang="ru-RU" altLang="en-US"/>
              <a:t>. </a:t>
            </a:r>
            <a:r>
              <a:rPr lang="en-US" altLang="en-US"/>
              <a:t>Клиент явно выбирает версию. Старую можно пометить как deprecated — клиенты увидят предупреждение и будут знать, что пора обновляться.</a:t>
            </a:r>
            <a:r>
              <a:rPr lang="ru-RU" altLang="en-US"/>
              <a:t> </a:t>
            </a:r>
            <a:endParaRPr lang="en-US" altLang="en-US"/>
          </a:p>
          <a:p>
            <a:pPr marL="0" indent="0">
              <a:buNone/>
            </a:pPr>
            <a:endParaRPr lang="ru-RU" altLang="en-US"/>
          </a:p>
        </p:txBody>
      </p:sp>
      <p:pic>
        <p:nvPicPr>
          <p:cNvPr id="5" name="Picture 4" descr="Снимок экрана — 2026-09-21 в 23.43.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95" y="1293495"/>
            <a:ext cx="6527800" cy="2959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Swagger / OpenAPI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OpenAPI — спецификация для описания REST API (языконезависимая). </a:t>
            </a:r>
            <a:endParaRPr lang="en-US" altLang="en-US"/>
          </a:p>
          <a:p>
            <a:r>
              <a:rPr lang="en-US" altLang="en-US"/>
              <a:t>Swagger UI — интерактивный интерфейс для просмотра и тестирования API.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Подключение Swashbuckle: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6" name="Picture 5" descr="Снимок экрана — 2026-09-21 в 23.46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0" y="2522855"/>
            <a:ext cx="5951220" cy="40024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XML-комментарии в коде → описания в Swagger: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В .csproj нужно включить:</a:t>
            </a:r>
            <a:r>
              <a:rPr lang="ru-RU" altLang="en-US"/>
              <a:t> </a:t>
            </a:r>
            <a:endParaRPr lang="ru-RU" altLang="en-US"/>
          </a:p>
        </p:txBody>
      </p:sp>
      <p:pic>
        <p:nvPicPr>
          <p:cNvPr id="5" name="Picture 4" descr="Снимок экрана — 2026-09-21 в 23.46.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95" y="1521460"/>
            <a:ext cx="7404100" cy="3263900"/>
          </a:xfrm>
          <a:prstGeom prst="rect">
            <a:avLst/>
          </a:prstGeom>
        </p:spPr>
      </p:pic>
      <p:pic>
        <p:nvPicPr>
          <p:cNvPr id="6" name="Picture 5" descr="Снимок экрана — 2026-09-21 в 23.47.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175" y="5095875"/>
            <a:ext cx="6540500" cy="533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Swagger — это две вещи сразу. Первая — документация: список всех эндпоинтов, параметров, форматов ответа. Вторая — песочница: кнопка "Try it out" отправляет реальный запрос. Не нужен Postman для базовой проверки. Чтобы описания появились в Swagger, пишем XML-комментарии над методами. А</a:t>
            </a:r>
            <a:r>
              <a:rPr lang="ru-RU" altLang="en-US"/>
              <a:t> </a:t>
            </a:r>
            <a:r>
              <a:rPr lang="en-US" altLang="en-US"/>
              <a:t>[ProducesResponseType]</a:t>
            </a:r>
            <a:r>
              <a:rPr lang="ru-RU" altLang="en-US"/>
              <a:t> </a:t>
            </a:r>
            <a:r>
              <a:rPr lang="en-US" altLang="en-US"/>
              <a:t>оворит Swagger, какие статус-коды возможны.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В .NET 9 Microsoft добавила встроенную поддержку OpenAPI через</a:t>
            </a:r>
            <a:r>
              <a:rPr lang="ru-RU" altLang="en-US"/>
              <a:t> </a:t>
            </a:r>
            <a:r>
              <a:rPr lang="en-US" altLang="en-US"/>
              <a:t>Microsoft.AspNetCore.OpenApi</a:t>
            </a:r>
            <a:r>
              <a:rPr lang="ru-RU" altLang="en-US"/>
              <a:t> </a:t>
            </a:r>
            <a:r>
              <a:rPr lang="en-US" altLang="en-US"/>
              <a:t>Swashbuckle по-прежнему работает, но больше не входит в шаблон проекта по умолчанию. Принцип тот же: генерируется </a:t>
            </a:r>
            <a:r>
              <a:rPr lang="ru-RU" altLang="en-US"/>
              <a:t> </a:t>
            </a:r>
            <a:r>
              <a:rPr lang="en-US" altLang="en-US"/>
              <a:t>swagger.json</a:t>
            </a:r>
            <a:r>
              <a:rPr lang="ru-RU" altLang="en-US"/>
              <a:t> </a:t>
            </a:r>
            <a:r>
              <a:rPr lang="en-US" altLang="en-US"/>
              <a:t>, который читается Swagger UI или другими инструментами.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EF Core (Entity Framework Core) 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EF Core (Entity Framework Core)</a:t>
            </a:r>
            <a:r>
              <a:rPr lang="en-US" altLang="en-US"/>
              <a:t> — это ORM (Object‑Relational Mapper) для .NET</a:t>
            </a:r>
            <a:r>
              <a:rPr lang="lv-LV" altLang="en-US"/>
              <a:t> -</a:t>
            </a:r>
            <a:r>
              <a:rPr lang="en-US" altLang="en-US"/>
              <a:t> позволяет работать с базой данных через C#‑классы, а не писать SQL вручную.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Что делает</a:t>
            </a:r>
            <a:r>
              <a:rPr lang="lv-LV" altLang="en-US"/>
              <a:t>:</a:t>
            </a:r>
            <a:endParaRPr lang="en-US" altLang="en-US"/>
          </a:p>
          <a:p>
            <a:r>
              <a:rPr lang="en-US" altLang="en-US"/>
              <a:t>Маппит классы на таблицы: класс</a:t>
            </a:r>
            <a:r>
              <a:rPr lang="lv-LV" altLang="en-US"/>
              <a:t> Product </a:t>
            </a:r>
            <a:r>
              <a:rPr lang="en-US" altLang="en-US"/>
              <a:t>→ таблица</a:t>
            </a:r>
            <a:r>
              <a:rPr lang="lv-LV" altLang="en-US"/>
              <a:t> Products, </a:t>
            </a:r>
            <a:r>
              <a:rPr lang="en-US" altLang="en-US"/>
              <a:t> свойства → колонки.</a:t>
            </a:r>
            <a:endParaRPr lang="en-US" altLang="en-US"/>
          </a:p>
          <a:p>
            <a:r>
              <a:rPr lang="en-US" altLang="en-US"/>
              <a:t>Генерирует SQL: пише</a:t>
            </a:r>
            <a:r>
              <a:rPr lang="ru-RU" altLang="en-US"/>
              <a:t>м</a:t>
            </a:r>
            <a:r>
              <a:rPr lang="en-US" altLang="en-US"/>
              <a:t> LINQ‑запросы, EF Core превращает их в SQL и выполняет в БД.</a:t>
            </a:r>
            <a:endParaRPr lang="en-US" altLang="en-US"/>
          </a:p>
          <a:p>
            <a:r>
              <a:rPr lang="en-US" altLang="en-US"/>
              <a:t>Управляет изменениями схемы: через миграции создаются/обновляются таблицы и индексы.</a:t>
            </a:r>
            <a:endParaRPr lang="en-US" altLang="en-US"/>
          </a:p>
          <a:p>
            <a:r>
              <a:rPr lang="en-US" altLang="en-US"/>
              <a:t>Отслеживает изменения: знает, какие сущности изменили, и формирует INSERT/UPDATE/DELETE при вызове SaveChanges()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Ключевые понятия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r>
              <a:rPr lang="en-US" altLang="en-US"/>
              <a:t>DbContext — главный класс, «сессия» работы с БД. Содержит DbSet&lt;T&gt; для каждой сущности.</a:t>
            </a:r>
            <a:endParaRPr lang="en-US" altLang="en-US"/>
          </a:p>
          <a:p>
            <a:r>
              <a:rPr lang="en-US" altLang="en-US"/>
              <a:t>Entity — класс‑модель, который хранится в БД (с PK, связями и т. п.).</a:t>
            </a:r>
            <a:endParaRPr lang="en-US" altLang="en-US"/>
          </a:p>
          <a:p>
            <a:r>
              <a:rPr lang="en-US" altLang="en-US"/>
              <a:t>Миграции: dotnet ef migrations add Init → создаёт скрипт, dotnet ef database update → применяет к БД.</a:t>
            </a:r>
            <a:endParaRPr lang="en-US" altLang="en-US"/>
          </a:p>
          <a:p>
            <a:r>
              <a:rPr lang="en-US" altLang="en-US"/>
              <a:t>LINQ — основной способ запросов:</a:t>
            </a:r>
            <a:endParaRPr lang="en-US" altLang="en-US"/>
          </a:p>
        </p:txBody>
      </p:sp>
      <p:pic>
        <p:nvPicPr>
          <p:cNvPr id="5" name="Picture 4" descr="Снимок экрана — 2026-09-22 в 09.01.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615" y="4081145"/>
            <a:ext cx="4483100" cy="1574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Связи:</a:t>
            </a:r>
            <a:endParaRPr lang="en-US" altLang="en-US"/>
          </a:p>
          <a:p>
            <a:pPr lvl="1"/>
            <a:r>
              <a:rPr lang="en-US" altLang="en-US"/>
              <a:t>1:M: навигационное свойство + внешний ключ.</a:t>
            </a:r>
            <a:endParaRPr lang="en-US" altLang="en-US"/>
          </a:p>
          <a:p>
            <a:pPr lvl="1"/>
            <a:r>
              <a:rPr lang="en-US" altLang="en-US"/>
              <a:t>M:N: через связующую сущность (или в новых версиях EF Core — через</a:t>
            </a:r>
            <a:r>
              <a:rPr lang="ru-RU" altLang="en-US"/>
              <a:t> </a:t>
            </a:r>
            <a:r>
              <a:rPr lang="en-US" altLang="en-US"/>
              <a:t>HasMany(...).WithMany()</a:t>
            </a:r>
            <a:r>
              <a:rPr lang="ru-RU" altLang="en-US"/>
              <a:t> )</a:t>
            </a:r>
            <a:endParaRPr lang="ru-RU" altLang="en-US"/>
          </a:p>
          <a:p>
            <a:pPr lvl="1"/>
            <a:r>
              <a:rPr lang="en-US" altLang="en-US"/>
              <a:t>Каскадное удаление настраивается в</a:t>
            </a:r>
            <a:r>
              <a:rPr lang="ru-RU" altLang="en-US"/>
              <a:t> </a:t>
            </a:r>
            <a:r>
              <a:rPr lang="en-US" altLang="en-US"/>
              <a:t>OnModelCreating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Пример - содержимое </a:t>
            </a:r>
            <a:r>
              <a:rPr lang="lv-LV" altLang="ru-RU"/>
              <a:t>Product.cs</a:t>
            </a:r>
            <a:endParaRPr lang="lv-LV" altLang="ru-RU"/>
          </a:p>
        </p:txBody>
      </p:sp>
      <p:pic>
        <p:nvPicPr>
          <p:cNvPr id="5" name="Picture 4" descr="Снимок экрана — 2026-09-22 в 09.05.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318260"/>
            <a:ext cx="9144000" cy="51435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Снимок экрана — 2026-09-22 в 09.06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225" y="1206500"/>
            <a:ext cx="9093200" cy="4445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19760" y="551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lv-LV"/>
              <a:t>Содержимое </a:t>
            </a:r>
            <a:r>
              <a:rPr lang="en-US" altLang="en-US"/>
              <a:t>AppDbContext.cs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Снимок экрана — 2026-09-22 в 09.06.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625" y="1262380"/>
            <a:ext cx="9042400" cy="4178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Использование:</a:t>
            </a:r>
            <a:endParaRPr lang="en-US" altLang="en-US"/>
          </a:p>
          <a:p>
            <a:pPr marL="0" indent="0">
              <a:buNone/>
            </a:pPr>
            <a:r>
              <a:rPr lang="lv-LV" altLang="ru-RU"/>
              <a:t>Program.cs</a:t>
            </a:r>
            <a:endParaRPr lang="lv-LV" altLang="ru-RU"/>
          </a:p>
        </p:txBody>
      </p:sp>
      <p:pic>
        <p:nvPicPr>
          <p:cNvPr id="5" name="Picture 4" descr="Снимок экрана — 2026-09-22 в 09.07.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353060"/>
            <a:ext cx="9182100" cy="6324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Важные нюансы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N+1 проблема</a:t>
            </a:r>
            <a:r>
              <a:rPr lang="en-US" altLang="en-US"/>
              <a:t>: если в цикле читае</a:t>
            </a:r>
            <a:r>
              <a:rPr lang="ru-RU" altLang="en-US"/>
              <a:t>м</a:t>
            </a:r>
            <a:r>
              <a:rPr lang="en-US" altLang="en-US"/>
              <a:t> связанные данные без</a:t>
            </a:r>
            <a:r>
              <a:rPr lang="ru-RU" altLang="en-US"/>
              <a:t> </a:t>
            </a:r>
            <a:r>
              <a:rPr lang="en-US" altLang="en-US"/>
              <a:t>.Include()</a:t>
            </a:r>
            <a:r>
              <a:rPr lang="ru-RU" altLang="en-US"/>
              <a:t>, </a:t>
            </a:r>
            <a:r>
              <a:rPr lang="en-US" altLang="en-US"/>
              <a:t> будет много лишних запросов. Решение: загружать связи сразу:</a:t>
            </a:r>
            <a:r>
              <a:rPr lang="ru-RU" altLang="en-US"/>
              <a:t> </a:t>
            </a:r>
            <a:endParaRPr lang="ru-RU" altLang="en-US"/>
          </a:p>
          <a:p>
            <a:pPr marL="0" indent="0">
              <a:buNone/>
            </a:pPr>
            <a:r>
              <a:rPr lang="en-US" altLang="en-US"/>
              <a:t>db.Projects.Include(p =&gt; p.Tasks).ToList();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Async API: </a:t>
            </a:r>
            <a:r>
              <a:rPr lang="en-US" altLang="en-US"/>
              <a:t>для веб‑приложений лучше использовать асинхронные методы: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await db.Products.ToListAsync();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Только чтение:</a:t>
            </a:r>
            <a:r>
              <a:rPr lang="en-US" altLang="en-US"/>
              <a:t> если не планируе</a:t>
            </a:r>
            <a:r>
              <a:rPr lang="ru-RU" altLang="en-US"/>
              <a:t>м</a:t>
            </a:r>
            <a:r>
              <a:rPr lang="en-US" altLang="en-US"/>
              <a:t> менять объекты, использу</a:t>
            </a:r>
            <a:r>
              <a:rPr lang="ru-RU" altLang="en-US"/>
              <a:t>ем </a:t>
            </a:r>
            <a:r>
              <a:rPr lang="en-US" altLang="en-US"/>
              <a:t>.AsNoTracking()</a:t>
            </a:r>
            <a:r>
              <a:rPr lang="ru-RU" altLang="en-US"/>
              <a:t> - э</a:t>
            </a:r>
            <a:r>
              <a:rPr lang="en-US" altLang="en-US"/>
              <a:t>то быстрее.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Контекст на запрос:</a:t>
            </a:r>
            <a:r>
              <a:rPr lang="en-US" altLang="en-US"/>
              <a:t> в ASP.NET Core регистрируют через</a:t>
            </a:r>
            <a:r>
              <a:rPr lang="ru-RU" altLang="en-US"/>
              <a:t> </a:t>
            </a:r>
            <a:r>
              <a:rPr lang="en-US" altLang="en-US"/>
              <a:t>builder.Services.AddDbContext&lt;AppDbContext&gt;()</a:t>
            </a:r>
            <a:r>
              <a:rPr lang="ru-RU" altLang="en-US"/>
              <a:t> - </a:t>
            </a:r>
            <a:r>
              <a:rPr lang="en-US" altLang="en-US"/>
              <a:t>тогда каждый HTTP‑запрос получает свой</a:t>
            </a:r>
            <a:r>
              <a:rPr lang="ru-RU" altLang="en-US"/>
              <a:t> </a:t>
            </a:r>
            <a:r>
              <a:rPr lang="en-US" altLang="en-US"/>
              <a:t>DbContext</a:t>
            </a:r>
            <a:r>
              <a:rPr lang="ru-RU" altLang="en-US"/>
              <a:t>.</a:t>
            </a:r>
            <a:endParaRPr lang="ru-RU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8412</Words>
  <Application>WPS Docs</Application>
  <PresentationFormat>Widescreen</PresentationFormat>
  <Paragraphs>244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7" baseType="lpstr">
      <vt:lpstr>Arial</vt:lpstr>
      <vt:lpstr>SimSun</vt:lpstr>
      <vt:lpstr>Wingdings</vt:lpstr>
      <vt:lpstr>Wingdings</vt:lpstr>
      <vt:lpstr>Helvetica Neue Bold</vt:lpstr>
      <vt:lpstr>Helvetica Neue</vt:lpstr>
      <vt:lpstr>Microsoft YaHei</vt:lpstr>
      <vt:lpstr>汉仪旗黑</vt:lpstr>
      <vt:lpstr>Arial Unicode MS</vt:lpstr>
      <vt:lpstr>Calibri</vt:lpstr>
      <vt:lpstr>YS Text</vt:lpstr>
      <vt:lpstr>Thonburi</vt:lpstr>
      <vt:lpstr>宋体-简</vt:lpstr>
      <vt:lpstr>WPS</vt:lpstr>
      <vt:lpstr>REST API в ASP.NET Core</vt:lpstr>
      <vt:lpstr>REST — что это и зачем</vt:lpstr>
      <vt:lpstr>PowerPoint 演示文稿</vt:lpstr>
      <vt:lpstr>Модель зрелости Ричардсона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HTTP-методы и идемпотентность</vt:lpstr>
      <vt:lpstr>PowerPoint 演示文稿</vt:lpstr>
      <vt:lpstr>PowerPoint 演示文稿</vt:lpstr>
      <vt:lpstr>ApiController и роутинг в ASP.NET Core</vt:lpstr>
      <vt:lpstr>PowerPoint 演示文稿</vt:lpstr>
      <vt:lpstr>Возвраты: ActionResult&lt;T&gt; и статус-коды</vt:lpstr>
      <vt:lpstr>ProblemDetails — единый формат ошибок</vt:lpstr>
      <vt:lpstr>PowerPoint 演示文稿</vt:lpstr>
      <vt:lpstr>DTO — зачем и как</vt:lpstr>
      <vt:lpstr>PowerPoint 演示文稿</vt:lpstr>
      <vt:lpstr>PowerPoint 演示文稿</vt:lpstr>
      <vt:lpstr>Версионирование API</vt:lpstr>
      <vt:lpstr>PowerPoint 演示文稿</vt:lpstr>
      <vt:lpstr>Swagger / OpenAPI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в ASP.NET Core</dc:title>
  <dc:creator>oksanaroslova</dc:creator>
  <cp:lastModifiedBy>Oksana Roslova</cp:lastModifiedBy>
  <cp:revision>93</cp:revision>
  <dcterms:created xsi:type="dcterms:W3CDTF">2026-09-22T07:30:50Z</dcterms:created>
  <dcterms:modified xsi:type="dcterms:W3CDTF">2026-09-22T07:30:50Z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83373D7101ABDD0BA58CB16AF3C255FB_41</vt:lpwstr>
  </property>
</Properties>
</file>